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48640"/>
            <a:ext cx="38100" cy="5760720"/>
          </a:xfrm>
          <a:prstGeom prst="rect">
            <a:avLst/>
          </a:prstGeom>
          <a:solidFill>
            <a:srgbClr val="4A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594360"/>
            <a:ext cx="10362895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0" i="0">
                <a:solidFill>
                  <a:srgbClr val="A89878"/>
                </a:solidFill>
                <a:latin typeface="Malgun Gothic"/>
              </a:rPr>
              <a:t>INVESTMENT STRATEGY ·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1024128"/>
            <a:ext cx="10088575" cy="2468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E8E4DC"/>
                </a:solidFill>
                <a:latin typeface="Malgun Gothic"/>
              </a:rPr>
              <a:t>AI/HBM 사이클 기반</a:t>
            </a:r>
          </a:p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E8E4DC"/>
                </a:solidFill>
                <a:latin typeface="Malgun Gothic"/>
              </a:rPr>
              <a:t>반도체 투자 전략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3383280"/>
            <a:ext cx="10088575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700" b="0" i="0">
                <a:solidFill>
                  <a:srgbClr val="8A8680"/>
                </a:solidFill>
                <a:latin typeface="Malgun Gothic"/>
              </a:rPr>
              <a:t>Mid-Cycle Distribution &amp; Re-Entry Strategy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5257800"/>
            <a:ext cx="10454335" cy="6350"/>
          </a:xfrm>
          <a:prstGeom prst="rect">
            <a:avLst/>
          </a:prstGeom>
          <a:solidFill>
            <a:srgbClr val="A89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5394960"/>
            <a:ext cx="10454335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0" i="0">
                <a:solidFill>
                  <a:srgbClr val="5A5858"/>
                </a:solidFill>
                <a:latin typeface="Malgun Gothic"/>
              </a:rPr>
              <a:t>2026.05 · 개인 포트폴리오 전략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5870448"/>
            <a:ext cx="1280160" cy="347472"/>
          </a:xfrm>
          <a:prstGeom prst="rect">
            <a:avLst/>
          </a:prstGeom>
          <a:solidFill>
            <a:srgbClr val="1A1A22"/>
          </a:solidFill>
          <a:ln w="6350">
            <a:solidFill>
              <a:srgbClr val="4A7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ctr"/>
            <a:r>
              <a:rPr sz="1200" b="1" i="0">
                <a:solidFill>
                  <a:srgbClr val="6A9FC8"/>
                </a:solidFill>
                <a:latin typeface="Malgun Gothic"/>
              </a:rPr>
              <a:t>반도체 섹터</a:t>
            </a:r>
          </a:p>
        </p:txBody>
      </p:sp>
      <p:sp>
        <p:nvSpPr>
          <p:cNvPr id="9" name="Rectangle 8"/>
          <p:cNvSpPr/>
          <p:nvPr/>
        </p:nvSpPr>
        <p:spPr>
          <a:xfrm>
            <a:off x="2395728" y="5870448"/>
            <a:ext cx="1554480" cy="347472"/>
          </a:xfrm>
          <a:prstGeom prst="rect">
            <a:avLst/>
          </a:prstGeom>
          <a:solidFill>
            <a:srgbClr val="1A1A22"/>
          </a:solidFill>
          <a:ln w="6350">
            <a:solidFill>
              <a:srgbClr val="4A7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ctr"/>
            <a:r>
              <a:rPr sz="1200" b="1" i="0">
                <a:solidFill>
                  <a:srgbClr val="6A9FC8"/>
                </a:solidFill>
                <a:latin typeface="Malgun Gothic"/>
              </a:rPr>
              <a:t>후기 가속 구간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59936" y="5870448"/>
            <a:ext cx="1280160" cy="347472"/>
          </a:xfrm>
          <a:prstGeom prst="rect">
            <a:avLst/>
          </a:prstGeom>
          <a:solidFill>
            <a:srgbClr val="1A1A22"/>
          </a:solidFill>
          <a:ln w="6350">
            <a:solidFill>
              <a:srgbClr val="4A7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ctr"/>
            <a:r>
              <a:rPr sz="1200" b="1" i="0">
                <a:solidFill>
                  <a:srgbClr val="6A9FC8"/>
                </a:solidFill>
                <a:latin typeface="Malgun Gothic"/>
              </a:rPr>
              <a:t>사이클 관리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48640"/>
            <a:ext cx="10820095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2200" b="1" i="0">
                <a:solidFill>
                  <a:srgbClr val="E8E4DC"/>
                </a:solidFill>
                <a:latin typeface="Malgun Gothic"/>
              </a:rPr>
              <a:t>핵심 결론 — 3줄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97280"/>
            <a:ext cx="10820095" cy="5080"/>
          </a:xfrm>
          <a:prstGeom prst="rect">
            <a:avLst/>
          </a:prstGeom>
          <a:solidFill>
            <a:srgbClr val="A89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3496970" cy="4937760"/>
          </a:xfrm>
          <a:prstGeom prst="rect">
            <a:avLst/>
          </a:prstGeom>
          <a:solidFill>
            <a:srgbClr val="1A1A22"/>
          </a:solidFill>
          <a:ln w="635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3496970" cy="38100"/>
          </a:xfrm>
          <a:prstGeom prst="rect">
            <a:avLst/>
          </a:prstGeom>
          <a:solidFill>
            <a:srgbClr val="4A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349697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ctr"/>
            <a:r>
              <a:rPr sz="1200" b="0" i="0">
                <a:solidFill>
                  <a:srgbClr val="A89878"/>
                </a:solidFill>
                <a:latin typeface="Malgun Gothic"/>
              </a:rPr>
              <a:t>현재 국면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920240"/>
            <a:ext cx="3496970" cy="1325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ctr">
              <a:lnSpc>
                <a:spcPct val="110000"/>
              </a:lnSpc>
            </a:pPr>
            <a:r>
              <a:rPr sz="3600" b="1" i="0">
                <a:solidFill>
                  <a:srgbClr val="E8E4DC"/>
                </a:solidFill>
                <a:latin typeface="Malgun Gothic"/>
              </a:rPr>
              <a:t>FOMO</a:t>
            </a:r>
          </a:p>
          <a:p>
            <a:pPr algn="ctr">
              <a:lnSpc>
                <a:spcPct val="110000"/>
              </a:lnSpc>
            </a:pPr>
            <a:r>
              <a:rPr sz="3600" b="1" i="0">
                <a:solidFill>
                  <a:srgbClr val="E8E4DC"/>
                </a:solidFill>
                <a:latin typeface="Malgun Gothic"/>
              </a:rPr>
              <a:t>후기 가속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291840"/>
            <a:ext cx="3496970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ctr"/>
            <a:r>
              <a:rPr sz="1300" b="1" i="0">
                <a:solidFill>
                  <a:srgbClr val="8A8680"/>
                </a:solidFill>
                <a:latin typeface="Malgun Gothic"/>
              </a:rPr>
              <a:t>밸류에이션 확장 중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5824728"/>
            <a:ext cx="349697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ctr"/>
            <a:r>
              <a:rPr sz="1200" b="0" i="0">
                <a:solidFill>
                  <a:srgbClr val="8A8680"/>
                </a:solidFill>
                <a:latin typeface="Malgun Gothic"/>
              </a:rPr>
              <a:t>실적이 아닌 기대감 주도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7362" y="1325880"/>
            <a:ext cx="3496970" cy="4937760"/>
          </a:xfrm>
          <a:prstGeom prst="rect">
            <a:avLst/>
          </a:prstGeom>
          <a:solidFill>
            <a:srgbClr val="1A1A22"/>
          </a:solidFill>
          <a:ln w="635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7362" y="1325880"/>
            <a:ext cx="3496970" cy="38100"/>
          </a:xfrm>
          <a:prstGeom prst="rect">
            <a:avLst/>
          </a:prstGeom>
          <a:solidFill>
            <a:srgbClr val="4A8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7362" y="1508760"/>
            <a:ext cx="349697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ctr"/>
            <a:r>
              <a:rPr sz="1200" b="0" i="0">
                <a:solidFill>
                  <a:srgbClr val="A89878"/>
                </a:solidFill>
                <a:latin typeface="Malgun Gothic"/>
              </a:rPr>
              <a:t>전략 목표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7362" y="1920240"/>
            <a:ext cx="3496970" cy="1325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ctr">
              <a:lnSpc>
                <a:spcPct val="110000"/>
              </a:lnSpc>
            </a:pPr>
            <a:r>
              <a:rPr sz="3600" b="1" i="0">
                <a:solidFill>
                  <a:srgbClr val="E8E4DC"/>
                </a:solidFill>
                <a:latin typeface="Malgun Gothic"/>
              </a:rPr>
              <a:t>피크</a:t>
            </a:r>
          </a:p>
          <a:p>
            <a:pPr algn="ctr">
              <a:lnSpc>
                <a:spcPct val="110000"/>
              </a:lnSpc>
            </a:pPr>
            <a:r>
              <a:rPr sz="3600" b="1" i="0">
                <a:solidFill>
                  <a:srgbClr val="E8E4DC"/>
                </a:solidFill>
                <a:latin typeface="Malgun Gothic"/>
              </a:rPr>
              <a:t>분배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7362" y="3291840"/>
            <a:ext cx="3496970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ctr"/>
            <a:r>
              <a:rPr sz="1300" b="1" i="0">
                <a:solidFill>
                  <a:srgbClr val="8A8680"/>
                </a:solidFill>
                <a:latin typeface="Malgun Gothic"/>
              </a:rPr>
              <a:t>1차 조정 → 재매수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7362" y="5824728"/>
            <a:ext cx="349697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ctr"/>
            <a:r>
              <a:rPr sz="1200" b="0" i="0">
                <a:solidFill>
                  <a:srgbClr val="8A8680"/>
                </a:solidFill>
                <a:latin typeface="Malgun Gothic"/>
              </a:rPr>
              <a:t>Buy &amp; Hold 아닌 사이클 운영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8924" y="1325880"/>
            <a:ext cx="3496970" cy="4937760"/>
          </a:xfrm>
          <a:prstGeom prst="rect">
            <a:avLst/>
          </a:prstGeom>
          <a:solidFill>
            <a:srgbClr val="1A1A22"/>
          </a:solidFill>
          <a:ln w="635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8924" y="1325880"/>
            <a:ext cx="3496970" cy="38100"/>
          </a:xfrm>
          <a:prstGeom prst="rect">
            <a:avLst/>
          </a:prstGeom>
          <a:solidFill>
            <a:srgbClr val="A89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08924" y="1508760"/>
            <a:ext cx="349697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ctr"/>
            <a:r>
              <a:rPr sz="1200" b="0" i="0">
                <a:solidFill>
                  <a:srgbClr val="A89878"/>
                </a:solidFill>
                <a:latin typeface="Malgun Gothic"/>
              </a:rPr>
              <a:t>최종 행선지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8924" y="1920240"/>
            <a:ext cx="3496970" cy="1325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ctr">
              <a:lnSpc>
                <a:spcPct val="110000"/>
              </a:lnSpc>
            </a:pPr>
            <a:r>
              <a:rPr sz="3600" b="1" i="0">
                <a:solidFill>
                  <a:srgbClr val="E8E4DC"/>
                </a:solidFill>
                <a:latin typeface="Malgun Gothic"/>
              </a:rPr>
              <a:t>AI</a:t>
            </a:r>
          </a:p>
          <a:p>
            <a:pPr algn="ctr">
              <a:lnSpc>
                <a:spcPct val="110000"/>
              </a:lnSpc>
            </a:pPr>
            <a:r>
              <a:rPr sz="3600" b="1" i="0">
                <a:solidFill>
                  <a:srgbClr val="E8E4DC"/>
                </a:solidFill>
                <a:latin typeface="Malgun Gothic"/>
              </a:rPr>
              <a:t>플랫폼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8924" y="3291840"/>
            <a:ext cx="3496970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ctr"/>
            <a:r>
              <a:rPr sz="1300" b="1" i="0">
                <a:solidFill>
                  <a:srgbClr val="8A8680"/>
                </a:solidFill>
                <a:latin typeface="Malgun Gothic"/>
              </a:rPr>
              <a:t>MSFT / AMZN / AVGO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8924" y="5824728"/>
            <a:ext cx="349697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ctr"/>
            <a:r>
              <a:rPr sz="1200" b="0" i="0">
                <a:solidFill>
                  <a:srgbClr val="8A8680"/>
                </a:solidFill>
                <a:latin typeface="Malgun Gothic"/>
              </a:rPr>
              <a:t>멀티플 압축 후 이동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417320"/>
            <a:ext cx="4114800" cy="3200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4000" b="1" i="0">
                <a:solidFill>
                  <a:srgbClr val="2A2A30"/>
                </a:solidFill>
                <a:latin typeface="Malgun Gothic"/>
              </a:rPr>
              <a:t>01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770632"/>
            <a:ext cx="3657600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0" i="0">
                <a:solidFill>
                  <a:srgbClr val="A89878"/>
                </a:solidFill>
                <a:latin typeface="Malgun Gothic"/>
              </a:rPr>
              <a:t>Section 01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227832"/>
            <a:ext cx="5951052" cy="6350"/>
          </a:xfrm>
          <a:prstGeom prst="rect">
            <a:avLst/>
          </a:prstGeom>
          <a:solidFill>
            <a:srgbClr val="A89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3291840"/>
            <a:ext cx="7574066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3000" b="1" i="0">
                <a:solidFill>
                  <a:srgbClr val="E8E4DC"/>
                </a:solidFill>
                <a:latin typeface="Malgun Gothic"/>
              </a:rPr>
              <a:t>투자 Thesis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142232"/>
            <a:ext cx="7033061" cy="4389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400" b="0" i="0">
                <a:solidFill>
                  <a:srgbClr val="8A8680"/>
                </a:solidFill>
                <a:latin typeface="Malgun Gothic"/>
              </a:rPr>
              <a:t>현재 구간 진단 · 핵심 판단 기준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48640"/>
            <a:ext cx="10820095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2200" b="1" i="0">
                <a:solidFill>
                  <a:srgbClr val="E8E4DC"/>
                </a:solidFill>
                <a:latin typeface="Malgun Gothic"/>
              </a:rPr>
              <a:t>현재 구간 — FOMO 후기 가속 4대 시그널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97280"/>
            <a:ext cx="10820095" cy="5080"/>
          </a:xfrm>
          <a:prstGeom prst="rect">
            <a:avLst/>
          </a:prstGeom>
          <a:solidFill>
            <a:srgbClr val="A89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5282031" cy="5010912"/>
          </a:xfrm>
          <a:prstGeom prst="rect">
            <a:avLst/>
          </a:prstGeom>
          <a:solidFill>
            <a:srgbClr val="1A1A22"/>
          </a:solidFill>
          <a:ln w="635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5282031" cy="38100"/>
          </a:xfrm>
          <a:prstGeom prst="rect">
            <a:avLst/>
          </a:prstGeom>
          <a:solidFill>
            <a:srgbClr val="4A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426464"/>
            <a:ext cx="4916271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1" i="0">
                <a:solidFill>
                  <a:srgbClr val="A89878"/>
                </a:solidFill>
                <a:latin typeface="Malgun Gothic"/>
              </a:rPr>
              <a:t>과열 시그널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847088"/>
            <a:ext cx="4916271" cy="4445"/>
          </a:xfrm>
          <a:prstGeom prst="rect">
            <a:avLst/>
          </a:prstGeom>
          <a:solidFill>
            <a:srgbClr val="2A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1540" y="2121408"/>
            <a:ext cx="91440" cy="91440"/>
          </a:xfrm>
          <a:prstGeom prst="ellipse">
            <a:avLst/>
          </a:prstGeom>
          <a:solidFill>
            <a:srgbClr val="4A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1920240"/>
            <a:ext cx="4879695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300" b="0" i="0">
                <a:solidFill>
                  <a:srgbClr val="8A8680"/>
                </a:solidFill>
                <a:latin typeface="Malgun Gothic"/>
              </a:rPr>
              <a:t>HBM 공급 부족 → 가격 프리미엄 지속</a:t>
            </a:r>
          </a:p>
        </p:txBody>
      </p:sp>
      <p:sp>
        <p:nvSpPr>
          <p:cNvPr id="10" name="Oval 9"/>
          <p:cNvSpPr/>
          <p:nvPr/>
        </p:nvSpPr>
        <p:spPr>
          <a:xfrm>
            <a:off x="891540" y="2615184"/>
            <a:ext cx="91440" cy="91440"/>
          </a:xfrm>
          <a:prstGeom prst="ellipse">
            <a:avLst/>
          </a:prstGeom>
          <a:solidFill>
            <a:srgbClr val="4A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51560" y="2414016"/>
            <a:ext cx="4879695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300" b="0" i="0">
                <a:solidFill>
                  <a:srgbClr val="8A8680"/>
                </a:solidFill>
                <a:latin typeface="Malgun Gothic"/>
              </a:rPr>
              <a:t>AI 인프라 CAPEX 사상 최고치 경신</a:t>
            </a:r>
          </a:p>
        </p:txBody>
      </p:sp>
      <p:sp>
        <p:nvSpPr>
          <p:cNvPr id="12" name="Oval 11"/>
          <p:cNvSpPr/>
          <p:nvPr/>
        </p:nvSpPr>
        <p:spPr>
          <a:xfrm>
            <a:off x="891540" y="3108960"/>
            <a:ext cx="91440" cy="91440"/>
          </a:xfrm>
          <a:prstGeom prst="ellipse">
            <a:avLst/>
          </a:prstGeom>
          <a:solidFill>
            <a:srgbClr val="4A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51560" y="2907792"/>
            <a:ext cx="4879695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300" b="0" i="0">
                <a:solidFill>
                  <a:srgbClr val="8A8680"/>
                </a:solidFill>
                <a:latin typeface="Malgun Gothic"/>
              </a:rPr>
              <a:t>기관/개인 추격 매수 + FOMO 유입</a:t>
            </a:r>
          </a:p>
        </p:txBody>
      </p:sp>
      <p:sp>
        <p:nvSpPr>
          <p:cNvPr id="14" name="Oval 13"/>
          <p:cNvSpPr/>
          <p:nvPr/>
        </p:nvSpPr>
        <p:spPr>
          <a:xfrm>
            <a:off x="891540" y="3602736"/>
            <a:ext cx="91440" cy="91440"/>
          </a:xfrm>
          <a:prstGeom prst="ellipse">
            <a:avLst/>
          </a:prstGeom>
          <a:solidFill>
            <a:srgbClr val="4A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51560" y="3401568"/>
            <a:ext cx="4879695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300" b="0" i="0">
                <a:solidFill>
                  <a:srgbClr val="8A8680"/>
                </a:solidFill>
                <a:latin typeface="Malgun Gothic"/>
              </a:rPr>
              <a:t>목표주가 상향 릴레이 → 밸류에이션 확장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23863" y="1298448"/>
            <a:ext cx="5282031" cy="5010912"/>
          </a:xfrm>
          <a:prstGeom prst="rect">
            <a:avLst/>
          </a:prstGeom>
          <a:solidFill>
            <a:srgbClr val="1A1A22"/>
          </a:solidFill>
          <a:ln w="635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3863" y="1298448"/>
            <a:ext cx="5282031" cy="38100"/>
          </a:xfrm>
          <a:prstGeom prst="rect">
            <a:avLst/>
          </a:prstGeom>
          <a:solidFill>
            <a:srgbClr val="6A9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6743" y="1426464"/>
            <a:ext cx="4916271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1" i="0">
                <a:solidFill>
                  <a:srgbClr val="A89878"/>
                </a:solidFill>
                <a:latin typeface="Malgun Gothic"/>
              </a:rPr>
              <a:t>핵심 판단 기준 전환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6743" y="1847088"/>
            <a:ext cx="4916271" cy="4445"/>
          </a:xfrm>
          <a:prstGeom prst="rect">
            <a:avLst/>
          </a:prstGeom>
          <a:solidFill>
            <a:srgbClr val="2A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29603" y="2121408"/>
            <a:ext cx="91440" cy="91440"/>
          </a:xfrm>
          <a:prstGeom prst="ellipse">
            <a:avLst/>
          </a:prstGeom>
          <a:solidFill>
            <a:srgbClr val="6A9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9623" y="1920240"/>
            <a:ext cx="4879695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300" b="0" i="0">
                <a:solidFill>
                  <a:srgbClr val="8A8680"/>
                </a:solidFill>
                <a:latin typeface="Malgun Gothic"/>
              </a:rPr>
              <a:t>❌ 틀린 질문: '좋은 기업인가?'</a:t>
            </a:r>
          </a:p>
        </p:txBody>
      </p:sp>
      <p:sp>
        <p:nvSpPr>
          <p:cNvPr id="22" name="Oval 21"/>
          <p:cNvSpPr/>
          <p:nvPr/>
        </p:nvSpPr>
        <p:spPr>
          <a:xfrm>
            <a:off x="6429603" y="2615184"/>
            <a:ext cx="91440" cy="91440"/>
          </a:xfrm>
          <a:prstGeom prst="ellipse">
            <a:avLst/>
          </a:prstGeom>
          <a:solidFill>
            <a:srgbClr val="6A9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9623" y="2414016"/>
            <a:ext cx="4879695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300" b="0" i="0">
                <a:solidFill>
                  <a:srgbClr val="8A8680"/>
                </a:solidFill>
                <a:latin typeface="Malgun Gothic"/>
              </a:rPr>
              <a:t>✅ 맞는 질문: '성장률 가속이 언제 꺾이는가?'</a:t>
            </a:r>
          </a:p>
        </p:txBody>
      </p:sp>
      <p:sp>
        <p:nvSpPr>
          <p:cNvPr id="24" name="Oval 23"/>
          <p:cNvSpPr/>
          <p:nvPr/>
        </p:nvSpPr>
        <p:spPr>
          <a:xfrm>
            <a:off x="6429603" y="3108960"/>
            <a:ext cx="91440" cy="91440"/>
          </a:xfrm>
          <a:prstGeom prst="ellipse">
            <a:avLst/>
          </a:prstGeom>
          <a:solidFill>
            <a:srgbClr val="6A9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9623" y="2907792"/>
            <a:ext cx="4879695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300" b="0" i="0">
                <a:solidFill>
                  <a:srgbClr val="8A8680"/>
                </a:solidFill>
                <a:latin typeface="Malgun Gothic"/>
              </a:rPr>
              <a:t>멀티플 확장은 기대감 기반 → 둔화 시점이 탈출 신호</a:t>
            </a:r>
          </a:p>
        </p:txBody>
      </p:sp>
      <p:sp>
        <p:nvSpPr>
          <p:cNvPr id="26" name="Oval 25"/>
          <p:cNvSpPr/>
          <p:nvPr/>
        </p:nvSpPr>
        <p:spPr>
          <a:xfrm>
            <a:off x="6429603" y="3602736"/>
            <a:ext cx="91440" cy="91440"/>
          </a:xfrm>
          <a:prstGeom prst="ellipse">
            <a:avLst/>
          </a:prstGeom>
          <a:solidFill>
            <a:srgbClr val="6A9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9623" y="3401568"/>
            <a:ext cx="4879695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300" b="0" i="0">
                <a:solidFill>
                  <a:srgbClr val="8A8680"/>
                </a:solidFill>
                <a:latin typeface="Malgun Gothic"/>
              </a:rPr>
              <a:t>기업 퀄리티 ≠ 주가 퍼포먼스 (사이클 후기)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48640"/>
            <a:ext cx="10820095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2200" b="1" i="0">
                <a:solidFill>
                  <a:srgbClr val="E8E4DC"/>
                </a:solidFill>
                <a:latin typeface="Malgun Gothic"/>
              </a:rPr>
              <a:t>예상 사이클 — 5단계 시나리오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97280"/>
            <a:ext cx="10820095" cy="5080"/>
          </a:xfrm>
          <a:prstGeom prst="rect">
            <a:avLst/>
          </a:prstGeom>
          <a:solidFill>
            <a:srgbClr val="A89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3026664"/>
            <a:ext cx="1929932" cy="1554480"/>
          </a:xfrm>
          <a:prstGeom prst="roundRect">
            <a:avLst/>
          </a:prstGeom>
          <a:solidFill>
            <a:srgbClr val="1A1A22"/>
          </a:solidFill>
          <a:ln w="19050">
            <a:solidFill>
              <a:srgbClr val="4A7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3026664"/>
            <a:ext cx="1929932" cy="50800"/>
          </a:xfrm>
          <a:prstGeom prst="rect">
            <a:avLst/>
          </a:prstGeom>
          <a:solidFill>
            <a:srgbClr val="4A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31684" y="3118104"/>
            <a:ext cx="292608" cy="292608"/>
          </a:xfrm>
          <a:prstGeom prst="ellipse">
            <a:avLst/>
          </a:prstGeom>
          <a:solidFill>
            <a:srgbClr val="4A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31684" y="3118104"/>
            <a:ext cx="292608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ctr"/>
            <a:r>
              <a:rPr sz="1200" b="1" i="0">
                <a:solidFill>
                  <a:srgbClr val="111116"/>
                </a:solidFill>
                <a:latin typeface="Malgun Gothic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191256"/>
            <a:ext cx="1747052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ctr"/>
            <a:r>
              <a:rPr sz="1300" b="1" i="0">
                <a:solidFill>
                  <a:srgbClr val="E8E4DC"/>
                </a:solidFill>
                <a:latin typeface="Malgun Gothic"/>
              </a:rPr>
              <a:t>상반기 과열 지속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4050792"/>
            <a:ext cx="1747052" cy="4389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ctr"/>
            <a:r>
              <a:rPr sz="1200" b="0" i="0">
                <a:solidFill>
                  <a:srgbClr val="8A8680"/>
                </a:solidFill>
                <a:latin typeface="Malgun Gothic"/>
              </a:rPr>
              <a:t>현재 위치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34020" y="3639312"/>
            <a:ext cx="256032" cy="329184"/>
          </a:xfrm>
          <a:prstGeom prst="rightArrow">
            <a:avLst>
              <a:gd name="adj1" fmla="val 50000"/>
              <a:gd name="adj2" fmla="val 35000"/>
            </a:avLst>
          </a:prstGeom>
          <a:solidFill>
            <a:srgbClr val="A89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08340" y="3026664"/>
            <a:ext cx="1929932" cy="1554480"/>
          </a:xfrm>
          <a:prstGeom prst="roundRect">
            <a:avLst/>
          </a:prstGeom>
          <a:solidFill>
            <a:srgbClr val="1A1A22"/>
          </a:solidFill>
          <a:ln w="19050">
            <a:solidFill>
              <a:srgbClr val="4A8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08340" y="3026664"/>
            <a:ext cx="1929932" cy="50800"/>
          </a:xfrm>
          <a:prstGeom prst="rect">
            <a:avLst/>
          </a:prstGeom>
          <a:solidFill>
            <a:srgbClr val="4A8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54225" y="3118104"/>
            <a:ext cx="292608" cy="292608"/>
          </a:xfrm>
          <a:prstGeom prst="ellipse">
            <a:avLst/>
          </a:prstGeom>
          <a:solidFill>
            <a:srgbClr val="4A8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54225" y="3118104"/>
            <a:ext cx="292608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ctr"/>
            <a:r>
              <a:rPr sz="1200" b="1" i="0">
                <a:solidFill>
                  <a:srgbClr val="111116"/>
                </a:solidFill>
                <a:latin typeface="Malgun Gothic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99780" y="3191256"/>
            <a:ext cx="1747052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ctr"/>
            <a:r>
              <a:rPr sz="1300" b="1" i="0">
                <a:solidFill>
                  <a:srgbClr val="E8E4DC"/>
                </a:solidFill>
                <a:latin typeface="Malgun Gothic"/>
              </a:rPr>
              <a:t>단기 조정 발생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99780" y="4050792"/>
            <a:ext cx="1747052" cy="4389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ctr"/>
            <a:r>
              <a:rPr sz="1200" b="0" i="0">
                <a:solidFill>
                  <a:srgbClr val="8A8680"/>
                </a:solidFill>
                <a:latin typeface="Malgun Gothic"/>
              </a:rPr>
              <a:t>1차 분배 후 대기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856561" y="3639312"/>
            <a:ext cx="256032" cy="329184"/>
          </a:xfrm>
          <a:prstGeom prst="rightArrow">
            <a:avLst>
              <a:gd name="adj1" fmla="val 50000"/>
              <a:gd name="adj2" fmla="val 35000"/>
            </a:avLst>
          </a:prstGeom>
          <a:solidFill>
            <a:srgbClr val="A89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30881" y="3026664"/>
            <a:ext cx="1929932" cy="1554480"/>
          </a:xfrm>
          <a:prstGeom prst="roundRect">
            <a:avLst/>
          </a:prstGeom>
          <a:solidFill>
            <a:srgbClr val="1A1A22"/>
          </a:solidFill>
          <a:ln w="19050">
            <a:solidFill>
              <a:srgbClr val="A89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30881" y="3026664"/>
            <a:ext cx="1929932" cy="50800"/>
          </a:xfrm>
          <a:prstGeom prst="rect">
            <a:avLst/>
          </a:prstGeom>
          <a:solidFill>
            <a:srgbClr val="A89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676765" y="3118104"/>
            <a:ext cx="292608" cy="292608"/>
          </a:xfrm>
          <a:prstGeom prst="ellipse">
            <a:avLst/>
          </a:prstGeom>
          <a:solidFill>
            <a:srgbClr val="A89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76765" y="3118104"/>
            <a:ext cx="292608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ctr"/>
            <a:r>
              <a:rPr sz="1200" b="1" i="0">
                <a:solidFill>
                  <a:srgbClr val="111116"/>
                </a:solidFill>
                <a:latin typeface="Malgun Gothic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22321" y="3191256"/>
            <a:ext cx="1747052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ctr"/>
            <a:r>
              <a:rPr sz="1300" b="1" i="0">
                <a:solidFill>
                  <a:srgbClr val="E8E4DC"/>
                </a:solidFill>
                <a:latin typeface="Malgun Gothic"/>
              </a:rPr>
              <a:t>피날레 랠리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22321" y="4050792"/>
            <a:ext cx="1747052" cy="4389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ctr"/>
            <a:r>
              <a:rPr sz="1200" b="0" i="0">
                <a:solidFill>
                  <a:srgbClr val="8A8680"/>
                </a:solidFill>
                <a:latin typeface="Malgun Gothic"/>
              </a:rPr>
              <a:t>재매수 + 수량 증가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079101" y="3639312"/>
            <a:ext cx="256032" cy="329184"/>
          </a:xfrm>
          <a:prstGeom prst="rightArrow">
            <a:avLst>
              <a:gd name="adj1" fmla="val 50000"/>
              <a:gd name="adj2" fmla="val 35000"/>
            </a:avLst>
          </a:prstGeom>
          <a:solidFill>
            <a:srgbClr val="A89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53421" y="3026664"/>
            <a:ext cx="1929932" cy="1554480"/>
          </a:xfrm>
          <a:prstGeom prst="roundRect">
            <a:avLst/>
          </a:prstGeom>
          <a:solidFill>
            <a:srgbClr val="1A1A22"/>
          </a:solidFill>
          <a:ln w="19050">
            <a:solidFill>
              <a:srgbClr val="6A9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53421" y="3026664"/>
            <a:ext cx="1929932" cy="50800"/>
          </a:xfrm>
          <a:prstGeom prst="rect">
            <a:avLst/>
          </a:prstGeom>
          <a:solidFill>
            <a:srgbClr val="6A9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899306" y="3118104"/>
            <a:ext cx="292608" cy="292608"/>
          </a:xfrm>
          <a:prstGeom prst="ellipse">
            <a:avLst/>
          </a:prstGeom>
          <a:solidFill>
            <a:srgbClr val="6A9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99306" y="3118104"/>
            <a:ext cx="292608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ctr"/>
            <a:r>
              <a:rPr sz="1200" b="1" i="0">
                <a:solidFill>
                  <a:srgbClr val="111116"/>
                </a:solidFill>
                <a:latin typeface="Malgun Gothic"/>
              </a:rPr>
              <a:t>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44861" y="3191256"/>
            <a:ext cx="1747052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ctr"/>
            <a:r>
              <a:rPr sz="1300" b="1" i="0">
                <a:solidFill>
                  <a:srgbClr val="E8E4DC"/>
                </a:solidFill>
                <a:latin typeface="Malgun Gothic"/>
              </a:rPr>
              <a:t>성장률 둔화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44861" y="4050792"/>
            <a:ext cx="1747052" cy="4389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ctr"/>
            <a:r>
              <a:rPr sz="1200" b="0" i="0">
                <a:solidFill>
                  <a:srgbClr val="8A8680"/>
                </a:solidFill>
                <a:latin typeface="Malgun Gothic"/>
              </a:rPr>
              <a:t>최종 탈출 준비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9301642" y="3639312"/>
            <a:ext cx="256032" cy="329184"/>
          </a:xfrm>
          <a:prstGeom prst="rightArrow">
            <a:avLst>
              <a:gd name="adj1" fmla="val 50000"/>
              <a:gd name="adj2" fmla="val 35000"/>
            </a:avLst>
          </a:prstGeom>
          <a:solidFill>
            <a:srgbClr val="A89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575962" y="3026664"/>
            <a:ext cx="1929932" cy="1554480"/>
          </a:xfrm>
          <a:prstGeom prst="roundRect">
            <a:avLst/>
          </a:prstGeom>
          <a:solidFill>
            <a:srgbClr val="1A1A22"/>
          </a:solidFill>
          <a:ln w="19050">
            <a:solidFill>
              <a:srgbClr val="A89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575962" y="3026664"/>
            <a:ext cx="1929932" cy="50800"/>
          </a:xfrm>
          <a:prstGeom prst="rect">
            <a:avLst/>
          </a:prstGeom>
          <a:solidFill>
            <a:srgbClr val="A89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121847" y="3118104"/>
            <a:ext cx="292608" cy="292608"/>
          </a:xfrm>
          <a:prstGeom prst="ellipse">
            <a:avLst/>
          </a:prstGeom>
          <a:solidFill>
            <a:srgbClr val="A89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121847" y="3118104"/>
            <a:ext cx="292608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ctr"/>
            <a:r>
              <a:rPr sz="1200" b="1" i="0">
                <a:solidFill>
                  <a:srgbClr val="111116"/>
                </a:solidFill>
                <a:latin typeface="Malgun Gothic"/>
              </a:rPr>
              <a:t>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67402" y="3191256"/>
            <a:ext cx="1747052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ctr"/>
            <a:r>
              <a:rPr sz="1300" b="1" i="0">
                <a:solidFill>
                  <a:srgbClr val="E8E4DC"/>
                </a:solidFill>
                <a:latin typeface="Malgun Gothic"/>
              </a:rPr>
              <a:t>멀티플 압축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67402" y="4050792"/>
            <a:ext cx="1747052" cy="4389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ctr"/>
            <a:r>
              <a:rPr sz="1200" b="0" i="0">
                <a:solidFill>
                  <a:srgbClr val="8A8680"/>
                </a:solidFill>
                <a:latin typeface="Malgun Gothic"/>
              </a:rPr>
              <a:t>비중 대폭 축소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417320"/>
            <a:ext cx="4114800" cy="3200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4000" b="1" i="0">
                <a:solidFill>
                  <a:srgbClr val="2A2A30"/>
                </a:solidFill>
                <a:latin typeface="Malgun Gothic"/>
              </a:rP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770632"/>
            <a:ext cx="3657600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0" i="0">
                <a:solidFill>
                  <a:srgbClr val="A89878"/>
                </a:solidFill>
                <a:latin typeface="Malgun Gothic"/>
              </a:rPr>
              <a:t>Section 02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227832"/>
            <a:ext cx="5951052" cy="6350"/>
          </a:xfrm>
          <a:prstGeom prst="rect">
            <a:avLst/>
          </a:prstGeom>
          <a:solidFill>
            <a:srgbClr val="A89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3291840"/>
            <a:ext cx="7574066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3000" b="1" i="0">
                <a:solidFill>
                  <a:srgbClr val="E8E4DC"/>
                </a:solidFill>
                <a:latin typeface="Malgun Gothic"/>
              </a:rPr>
              <a:t>핵심 전략 구조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142232"/>
            <a:ext cx="7033061" cy="4389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400" b="0" i="0">
                <a:solidFill>
                  <a:srgbClr val="8A8680"/>
                </a:solidFill>
                <a:latin typeface="Malgun Gothic"/>
              </a:rPr>
              <a:t>전략 Flow · 7단계 운영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48640"/>
            <a:ext cx="10820095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2200" b="1" i="0">
                <a:solidFill>
                  <a:srgbClr val="E8E4DC"/>
                </a:solidFill>
                <a:latin typeface="Malgun Gothic"/>
              </a:rPr>
              <a:t>전략 Flow — 7단계 사이클 운영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97280"/>
            <a:ext cx="10820095" cy="5080"/>
          </a:xfrm>
          <a:prstGeom prst="rect">
            <a:avLst/>
          </a:prstGeom>
          <a:solidFill>
            <a:srgbClr val="A89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26464"/>
            <a:ext cx="19050" cy="4700016"/>
          </a:xfrm>
          <a:prstGeom prst="rect">
            <a:avLst/>
          </a:prstGeom>
          <a:solidFill>
            <a:srgbClr val="2A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011680" y="1739188"/>
            <a:ext cx="182880" cy="182880"/>
          </a:xfrm>
          <a:prstGeom prst="ellipse">
            <a:avLst/>
          </a:prstGeom>
          <a:solidFill>
            <a:srgbClr val="4A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92630" y="1720138"/>
            <a:ext cx="220980" cy="220980"/>
          </a:xfrm>
          <a:prstGeom prst="ellipse">
            <a:avLst/>
          </a:prstGeom>
          <a:noFill/>
          <a:ln w="12700">
            <a:solidFill>
              <a:srgbClr val="4A7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29460"/>
            <a:ext cx="1188720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r"/>
            <a:r>
              <a:rPr sz="1200" b="1" i="0">
                <a:solidFill>
                  <a:srgbClr val="A89878"/>
                </a:solidFill>
                <a:latin typeface="Malgun Gothic"/>
              </a:rPr>
              <a:t>STEP 1</a:t>
            </a:r>
          </a:p>
        </p:txBody>
      </p:sp>
      <p:sp>
        <p:nvSpPr>
          <p:cNvPr id="8" name="Rectangle 7"/>
          <p:cNvSpPr/>
          <p:nvPr/>
        </p:nvSpPr>
        <p:spPr>
          <a:xfrm>
            <a:off x="2450592" y="1464868"/>
            <a:ext cx="9037015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400" b="1" i="0">
                <a:solidFill>
                  <a:srgbClr val="E8E4DC"/>
                </a:solidFill>
                <a:latin typeface="Malgun Gothic"/>
              </a:rPr>
              <a:t>과열 구간 진입 확인</a:t>
            </a:r>
          </a:p>
        </p:txBody>
      </p:sp>
      <p:sp>
        <p:nvSpPr>
          <p:cNvPr id="9" name="Rectangle 8"/>
          <p:cNvSpPr/>
          <p:nvPr/>
        </p:nvSpPr>
        <p:spPr>
          <a:xfrm>
            <a:off x="2450592" y="1848916"/>
            <a:ext cx="9037015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0" i="0">
                <a:solidFill>
                  <a:srgbClr val="8A8680"/>
                </a:solidFill>
                <a:latin typeface="Malgun Gothic"/>
              </a:rPr>
              <a:t>밸류에이션 확장 속도 + 수급 과열 감지</a:t>
            </a:r>
          </a:p>
        </p:txBody>
      </p:sp>
      <p:sp>
        <p:nvSpPr>
          <p:cNvPr id="10" name="Oval 9"/>
          <p:cNvSpPr/>
          <p:nvPr/>
        </p:nvSpPr>
        <p:spPr>
          <a:xfrm>
            <a:off x="2011680" y="2693822"/>
            <a:ext cx="182880" cy="182880"/>
          </a:xfrm>
          <a:prstGeom prst="ellipse">
            <a:avLst/>
          </a:prstGeom>
          <a:solidFill>
            <a:srgbClr val="4A8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992630" y="2674772"/>
            <a:ext cx="220980" cy="220980"/>
          </a:xfrm>
          <a:prstGeom prst="ellipse">
            <a:avLst/>
          </a:prstGeom>
          <a:noFill/>
          <a:ln w="12700">
            <a:solidFill>
              <a:srgbClr val="4A8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2584094"/>
            <a:ext cx="1188720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r"/>
            <a:r>
              <a:rPr sz="1200" b="1" i="0">
                <a:solidFill>
                  <a:srgbClr val="A89878"/>
                </a:solidFill>
                <a:latin typeface="Malgun Gothic"/>
              </a:rPr>
              <a:t>STEP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50592" y="2419502"/>
            <a:ext cx="9037015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400" b="1" i="0">
                <a:solidFill>
                  <a:srgbClr val="E8E4DC"/>
                </a:solidFill>
                <a:latin typeface="Malgun Gothic"/>
              </a:rPr>
              <a:t>트레일링 스탑 1차 분배 (50%)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50592" y="2803550"/>
            <a:ext cx="9037015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0" i="0">
                <a:solidFill>
                  <a:srgbClr val="8A8680"/>
                </a:solidFill>
                <a:latin typeface="Malgun Gothic"/>
              </a:rPr>
              <a:t>현금 확보 — 재매수 재원 마련</a:t>
            </a:r>
          </a:p>
        </p:txBody>
      </p:sp>
      <p:sp>
        <p:nvSpPr>
          <p:cNvPr id="15" name="Oval 14"/>
          <p:cNvSpPr/>
          <p:nvPr/>
        </p:nvSpPr>
        <p:spPr>
          <a:xfrm>
            <a:off x="2011680" y="3648456"/>
            <a:ext cx="182880" cy="182880"/>
          </a:xfrm>
          <a:prstGeom prst="ellipse">
            <a:avLst/>
          </a:prstGeom>
          <a:solidFill>
            <a:srgbClr val="6A9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992630" y="3629406"/>
            <a:ext cx="220980" cy="220980"/>
          </a:xfrm>
          <a:prstGeom prst="ellipse">
            <a:avLst/>
          </a:prstGeom>
          <a:noFill/>
          <a:ln w="12700">
            <a:solidFill>
              <a:srgbClr val="6A9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3538728"/>
            <a:ext cx="1188720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r"/>
            <a:r>
              <a:rPr sz="1200" b="1" i="0">
                <a:solidFill>
                  <a:srgbClr val="A89878"/>
                </a:solidFill>
                <a:latin typeface="Malgun Gothic"/>
              </a:rPr>
              <a:t>STEP 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50592" y="3374136"/>
            <a:ext cx="9037015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400" b="1" i="0">
                <a:solidFill>
                  <a:srgbClr val="E8E4DC"/>
                </a:solidFill>
                <a:latin typeface="Malgun Gothic"/>
              </a:rPr>
              <a:t>단기 조정 대기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50592" y="3758184"/>
            <a:ext cx="9037015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0" i="0">
                <a:solidFill>
                  <a:srgbClr val="8A8680"/>
                </a:solidFill>
                <a:latin typeface="Malgun Gothic"/>
              </a:rPr>
              <a:t>조정 깊이 확인 후 재진입 타이밍 포착</a:t>
            </a:r>
          </a:p>
        </p:txBody>
      </p:sp>
      <p:sp>
        <p:nvSpPr>
          <p:cNvPr id="20" name="Oval 19"/>
          <p:cNvSpPr/>
          <p:nvPr/>
        </p:nvSpPr>
        <p:spPr>
          <a:xfrm>
            <a:off x="2011680" y="4603089"/>
            <a:ext cx="182880" cy="182880"/>
          </a:xfrm>
          <a:prstGeom prst="ellipse">
            <a:avLst/>
          </a:prstGeom>
          <a:solidFill>
            <a:srgbClr val="A89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992630" y="4584039"/>
            <a:ext cx="220980" cy="220980"/>
          </a:xfrm>
          <a:prstGeom prst="ellipse">
            <a:avLst/>
          </a:prstGeom>
          <a:noFill/>
          <a:ln w="12700">
            <a:solidFill>
              <a:srgbClr val="A89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493361"/>
            <a:ext cx="1188720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r"/>
            <a:r>
              <a:rPr sz="1200" b="1" i="0">
                <a:solidFill>
                  <a:srgbClr val="A89878"/>
                </a:solidFill>
                <a:latin typeface="Malgun Gothic"/>
              </a:rPr>
              <a:t>STEP 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50592" y="4328769"/>
            <a:ext cx="9037015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400" b="1" i="0">
                <a:solidFill>
                  <a:srgbClr val="E8E4DC"/>
                </a:solidFill>
                <a:latin typeface="Malgun Gothic"/>
              </a:rPr>
              <a:t>재매수 + 수량 증가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50592" y="4712817"/>
            <a:ext cx="9037015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0" i="0">
                <a:solidFill>
                  <a:srgbClr val="8A8680"/>
                </a:solidFill>
                <a:latin typeface="Malgun Gothic"/>
              </a:rPr>
              <a:t>평균단가 개선 + 포지션 확대</a:t>
            </a:r>
          </a:p>
        </p:txBody>
      </p:sp>
      <p:sp>
        <p:nvSpPr>
          <p:cNvPr id="25" name="Oval 24"/>
          <p:cNvSpPr/>
          <p:nvPr/>
        </p:nvSpPr>
        <p:spPr>
          <a:xfrm>
            <a:off x="2011680" y="5557723"/>
            <a:ext cx="182880" cy="182880"/>
          </a:xfrm>
          <a:prstGeom prst="ellipse">
            <a:avLst/>
          </a:prstGeom>
          <a:solidFill>
            <a:srgbClr val="A89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992630" y="5538673"/>
            <a:ext cx="220980" cy="220980"/>
          </a:xfrm>
          <a:prstGeom prst="ellipse">
            <a:avLst/>
          </a:prstGeom>
          <a:noFill/>
          <a:ln w="12700">
            <a:solidFill>
              <a:srgbClr val="A89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5447995"/>
            <a:ext cx="1188720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r"/>
            <a:r>
              <a:rPr sz="1200" b="1" i="0">
                <a:solidFill>
                  <a:srgbClr val="A89878"/>
                </a:solidFill>
                <a:latin typeface="Malgun Gothic"/>
              </a:rPr>
              <a:t>STEP 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50592" y="5283403"/>
            <a:ext cx="9037015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400" b="1" i="0">
                <a:solidFill>
                  <a:srgbClr val="E8E4DC"/>
                </a:solidFill>
                <a:latin typeface="Malgun Gothic"/>
              </a:rPr>
              <a:t>피날레 랠리 참여 → 최종 탈출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50592" y="5667451"/>
            <a:ext cx="9037015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0" i="0">
                <a:solidFill>
                  <a:srgbClr val="8A8680"/>
                </a:solidFill>
                <a:latin typeface="Malgun Gothic"/>
              </a:rPr>
              <a:t>트레일링 스탑 발동 후 반도체 비중 축소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417320"/>
            <a:ext cx="4114800" cy="3200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4000" b="1" i="0">
                <a:solidFill>
                  <a:srgbClr val="2A2A30"/>
                </a:solidFill>
                <a:latin typeface="Malgun Gothic"/>
              </a:rPr>
              <a:t>03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770632"/>
            <a:ext cx="3657600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0" i="0">
                <a:solidFill>
                  <a:srgbClr val="A89878"/>
                </a:solidFill>
                <a:latin typeface="Malgun Gothic"/>
              </a:rPr>
              <a:t>Section 03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227832"/>
            <a:ext cx="5951052" cy="6350"/>
          </a:xfrm>
          <a:prstGeom prst="rect">
            <a:avLst/>
          </a:prstGeom>
          <a:solidFill>
            <a:srgbClr val="A89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3291840"/>
            <a:ext cx="7574066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3000" b="1" i="0">
                <a:solidFill>
                  <a:srgbClr val="E8E4DC"/>
                </a:solidFill>
                <a:latin typeface="Malgun Gothic"/>
              </a:rPr>
              <a:t>종목별 운영 전략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142232"/>
            <a:ext cx="7033061" cy="4389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400" b="0" i="0">
                <a:solidFill>
                  <a:srgbClr val="8A8680"/>
                </a:solidFill>
                <a:latin typeface="Malgun Gothic"/>
              </a:rPr>
              <a:t>역할 분류 · 트레일링 스탑 기준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48640"/>
            <a:ext cx="10820095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2200" b="1" i="0">
                <a:solidFill>
                  <a:srgbClr val="E8E4DC"/>
                </a:solidFill>
                <a:latin typeface="Malgun Gothic"/>
              </a:rPr>
              <a:t>종목별 역할 및 트레일링 스탑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97280"/>
            <a:ext cx="10820095" cy="5080"/>
          </a:xfrm>
          <a:prstGeom prst="rect">
            <a:avLst/>
          </a:prstGeom>
          <a:solidFill>
            <a:srgbClr val="A89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0820095" cy="493776"/>
          </a:xfrm>
          <a:prstGeom prst="rect">
            <a:avLst/>
          </a:prstGeom>
          <a:solidFill>
            <a:srgbClr val="222228"/>
          </a:solidFill>
          <a:ln w="381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787144"/>
            <a:ext cx="10820095" cy="7620"/>
          </a:xfrm>
          <a:prstGeom prst="rect">
            <a:avLst/>
          </a:prstGeom>
          <a:solidFill>
            <a:srgbClr val="A89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98448"/>
            <a:ext cx="2164019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1" i="0">
                <a:solidFill>
                  <a:srgbClr val="A89878"/>
                </a:solidFill>
                <a:latin typeface="Malgun Gothic"/>
              </a:rPr>
              <a:t>종목</a:t>
            </a:r>
          </a:p>
        </p:txBody>
      </p:sp>
      <p:sp>
        <p:nvSpPr>
          <p:cNvPr id="7" name="Rectangle 6"/>
          <p:cNvSpPr/>
          <p:nvPr/>
        </p:nvSpPr>
        <p:spPr>
          <a:xfrm>
            <a:off x="2849819" y="1298448"/>
            <a:ext cx="2164019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1" i="0">
                <a:solidFill>
                  <a:srgbClr val="6A9FC8"/>
                </a:solidFill>
                <a:latin typeface="Malgun Gothic"/>
              </a:rPr>
              <a:t>역할</a:t>
            </a:r>
          </a:p>
        </p:txBody>
      </p:sp>
      <p:sp>
        <p:nvSpPr>
          <p:cNvPr id="8" name="Rectangle 7"/>
          <p:cNvSpPr/>
          <p:nvPr/>
        </p:nvSpPr>
        <p:spPr>
          <a:xfrm>
            <a:off x="5013838" y="1298448"/>
            <a:ext cx="2164019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1" i="0">
                <a:solidFill>
                  <a:srgbClr val="A89878"/>
                </a:solidFill>
                <a:latin typeface="Malgun Gothic"/>
              </a:rPr>
              <a:t>1차 분배</a:t>
            </a:r>
          </a:p>
        </p:txBody>
      </p:sp>
      <p:sp>
        <p:nvSpPr>
          <p:cNvPr id="9" name="Rectangle 8"/>
          <p:cNvSpPr/>
          <p:nvPr/>
        </p:nvSpPr>
        <p:spPr>
          <a:xfrm>
            <a:off x="7177857" y="1298448"/>
            <a:ext cx="2164019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1" i="0">
                <a:solidFill>
                  <a:srgbClr val="A89878"/>
                </a:solidFill>
                <a:latin typeface="Malgun Gothic"/>
              </a:rPr>
              <a:t>최종 탈출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41876" y="1298448"/>
            <a:ext cx="2164019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1" i="0">
                <a:solidFill>
                  <a:srgbClr val="A89878"/>
                </a:solidFill>
                <a:latin typeface="Malgun Gothic"/>
              </a:rPr>
              <a:t>핵심 전략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792224"/>
            <a:ext cx="10820095" cy="493776"/>
          </a:xfrm>
          <a:prstGeom prst="rect">
            <a:avLst/>
          </a:prstGeom>
          <a:solidFill>
            <a:srgbClr val="1A1A22"/>
          </a:solidFill>
          <a:ln w="254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92224"/>
            <a:ext cx="2164019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0" i="0">
                <a:solidFill>
                  <a:srgbClr val="8A8680"/>
                </a:solidFill>
                <a:latin typeface="Malgun Gothic"/>
              </a:rPr>
              <a:t>SK하이닉스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49819" y="1792224"/>
            <a:ext cx="2164019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1" i="0">
                <a:solidFill>
                  <a:srgbClr val="E8E4DC"/>
                </a:solidFill>
                <a:latin typeface="Malgun Gothic"/>
              </a:rPr>
              <a:t>메인 주도주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13838" y="1792224"/>
            <a:ext cx="2164019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0" i="0">
                <a:solidFill>
                  <a:srgbClr val="8A8680"/>
                </a:solidFill>
                <a:latin typeface="Malgun Gothic"/>
              </a:rPr>
              <a:t>8.5~9%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77857" y="1792224"/>
            <a:ext cx="2164019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0" i="0">
                <a:solidFill>
                  <a:srgbClr val="8A8680"/>
                </a:solidFill>
                <a:latin typeface="Malgun Gothic"/>
              </a:rPr>
              <a:t>12~13%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41876" y="1792224"/>
            <a:ext cx="2164019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0" i="0">
                <a:solidFill>
                  <a:srgbClr val="8A8680"/>
                </a:solidFill>
                <a:latin typeface="Malgun Gothic"/>
              </a:rPr>
              <a:t>기관 랠리까지 추세 활용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2286000"/>
            <a:ext cx="10820095" cy="493776"/>
          </a:xfrm>
          <a:prstGeom prst="rect">
            <a:avLst/>
          </a:prstGeom>
          <a:solidFill>
            <a:srgbClr val="111116"/>
          </a:solidFill>
          <a:ln w="254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2286000"/>
            <a:ext cx="2164019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0" i="0">
                <a:solidFill>
                  <a:srgbClr val="8A8680"/>
                </a:solidFill>
                <a:latin typeface="Malgun Gothic"/>
              </a:rPr>
              <a:t>삼성전자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49819" y="2286000"/>
            <a:ext cx="2164019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1" i="0">
                <a:solidFill>
                  <a:srgbClr val="E8E4DC"/>
                </a:solidFill>
                <a:latin typeface="Malgun Gothic"/>
              </a:rPr>
              <a:t>안정 코어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13838" y="2286000"/>
            <a:ext cx="2164019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0" i="0">
                <a:solidFill>
                  <a:srgbClr val="8A8680"/>
                </a:solidFill>
                <a:latin typeface="Malgun Gothic"/>
              </a:rPr>
              <a:t>6.5~7%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77857" y="2286000"/>
            <a:ext cx="2164019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0" i="0">
                <a:solidFill>
                  <a:srgbClr val="8A8680"/>
                </a:solidFill>
                <a:latin typeface="Malgun Gothic"/>
              </a:rPr>
              <a:t>9~10%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41876" y="2286000"/>
            <a:ext cx="2164019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0" i="0">
                <a:solidFill>
                  <a:srgbClr val="8A8680"/>
                </a:solidFill>
                <a:latin typeface="Malgun Gothic"/>
              </a:rPr>
              <a:t>가장 늦게 축소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2779776"/>
            <a:ext cx="10820095" cy="493776"/>
          </a:xfrm>
          <a:prstGeom prst="rect">
            <a:avLst/>
          </a:prstGeom>
          <a:solidFill>
            <a:srgbClr val="1A1A22"/>
          </a:solidFill>
          <a:ln w="254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2779776"/>
            <a:ext cx="2164019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0" i="0">
                <a:solidFill>
                  <a:srgbClr val="8A8680"/>
                </a:solidFill>
                <a:latin typeface="Malgun Gothic"/>
              </a:rPr>
              <a:t>한미반도체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49819" y="2779776"/>
            <a:ext cx="2164019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1" i="0">
                <a:solidFill>
                  <a:srgbClr val="E8E4DC"/>
                </a:solidFill>
                <a:latin typeface="Malgun Gothic"/>
              </a:rPr>
              <a:t>과열 선행주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13838" y="2779776"/>
            <a:ext cx="2164019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0" i="0">
                <a:solidFill>
                  <a:srgbClr val="8A8680"/>
                </a:solidFill>
                <a:latin typeface="Malgun Gothic"/>
              </a:rPr>
              <a:t>3.5%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77857" y="2779776"/>
            <a:ext cx="2164019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0" i="0">
                <a:solidFill>
                  <a:srgbClr val="8A8680"/>
                </a:solidFill>
                <a:latin typeface="Malgun Gothic"/>
              </a:rPr>
              <a:t>10~11%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41876" y="2779776"/>
            <a:ext cx="2164019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0" i="0">
                <a:solidFill>
                  <a:srgbClr val="8A8680"/>
                </a:solidFill>
                <a:latin typeface="Malgun Gothic"/>
              </a:rPr>
              <a:t>실적 전 50% 매도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3273552"/>
            <a:ext cx="10820095" cy="493776"/>
          </a:xfrm>
          <a:prstGeom prst="rect">
            <a:avLst/>
          </a:prstGeom>
          <a:solidFill>
            <a:srgbClr val="111116"/>
          </a:solidFill>
          <a:ln w="254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800" y="3273552"/>
            <a:ext cx="2164019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0" i="0">
                <a:solidFill>
                  <a:srgbClr val="8A8680"/>
                </a:solidFill>
                <a:latin typeface="Malgun Gothic"/>
              </a:rPr>
              <a:t>두산에너빌리티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49819" y="3273552"/>
            <a:ext cx="2164019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1" i="0">
                <a:solidFill>
                  <a:srgbClr val="E8E4DC"/>
                </a:solidFill>
                <a:latin typeface="Malgun Gothic"/>
              </a:rPr>
              <a:t>비반도체 헷지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13838" y="3273552"/>
            <a:ext cx="2164019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0" i="0">
                <a:solidFill>
                  <a:srgbClr val="8A8680"/>
                </a:solidFill>
                <a:latin typeface="Malgun Gothic"/>
              </a:rPr>
              <a:t>7~8%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77857" y="3273552"/>
            <a:ext cx="2164019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0" i="0">
                <a:solidFill>
                  <a:srgbClr val="8A8680"/>
                </a:solidFill>
                <a:latin typeface="Malgun Gothic"/>
              </a:rPr>
              <a:t>10~11%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41876" y="3273552"/>
            <a:ext cx="2164019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0" i="0">
                <a:solidFill>
                  <a:srgbClr val="8A8680"/>
                </a:solidFill>
                <a:latin typeface="Malgun Gothic"/>
              </a:rPr>
              <a:t>후반까지 일부 유지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" y="3767328"/>
            <a:ext cx="10820095" cy="493776"/>
          </a:xfrm>
          <a:prstGeom prst="rect">
            <a:avLst/>
          </a:prstGeom>
          <a:solidFill>
            <a:srgbClr val="1A1A22"/>
          </a:solidFill>
          <a:ln w="254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85800" y="3767328"/>
            <a:ext cx="2164019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0" i="0">
                <a:solidFill>
                  <a:srgbClr val="8A8680"/>
                </a:solidFill>
                <a:latin typeface="Malgun Gothic"/>
              </a:rPr>
              <a:t>엔비디아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49819" y="3767328"/>
            <a:ext cx="2164019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1" i="0">
                <a:solidFill>
                  <a:srgbClr val="E8E4DC"/>
                </a:solidFill>
                <a:latin typeface="Malgun Gothic"/>
              </a:rPr>
              <a:t>글로벌 기준축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13838" y="3767328"/>
            <a:ext cx="2164019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0" i="0">
                <a:solidFill>
                  <a:srgbClr val="8A8680"/>
                </a:solidFill>
                <a:latin typeface="Malgun Gothic"/>
              </a:rPr>
              <a:t>9~10%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77857" y="3767328"/>
            <a:ext cx="2164019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0" i="0">
                <a:solidFill>
                  <a:srgbClr val="8A8680"/>
                </a:solidFill>
                <a:latin typeface="Malgun Gothic"/>
              </a:rPr>
              <a:t>14~15%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341876" y="3767328"/>
            <a:ext cx="2164019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0" i="0">
                <a:solidFill>
                  <a:srgbClr val="8A8680"/>
                </a:solidFill>
                <a:latin typeface="Malgun Gothic"/>
              </a:rPr>
              <a:t>AI 멀티플 피크 기준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417320"/>
            <a:ext cx="4114800" cy="3200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4000" b="1" i="0">
                <a:solidFill>
                  <a:srgbClr val="2A2A30"/>
                </a:solidFill>
                <a:latin typeface="Malgun Gothic"/>
              </a:rPr>
              <a:t>04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770632"/>
            <a:ext cx="3657600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0" i="0">
                <a:solidFill>
                  <a:srgbClr val="A89878"/>
                </a:solidFill>
                <a:latin typeface="Malgun Gothic"/>
              </a:rPr>
              <a:t>Section 04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227832"/>
            <a:ext cx="5951052" cy="6350"/>
          </a:xfrm>
          <a:prstGeom prst="rect">
            <a:avLst/>
          </a:prstGeom>
          <a:solidFill>
            <a:srgbClr val="A89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3291840"/>
            <a:ext cx="7574066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3000" b="1" i="0">
                <a:solidFill>
                  <a:srgbClr val="E8E4DC"/>
                </a:solidFill>
                <a:latin typeface="Malgun Gothic"/>
              </a:rPr>
              <a:t>Exit 전략 및 자산 이동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142232"/>
            <a:ext cx="7033061" cy="4389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400" b="0" i="0">
                <a:solidFill>
                  <a:srgbClr val="8A8680"/>
                </a:solidFill>
                <a:latin typeface="Malgun Gothic"/>
              </a:rPr>
              <a:t>종료 신호 · 이동 자산군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48640"/>
            <a:ext cx="10820095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2200" b="1" i="0">
                <a:solidFill>
                  <a:srgbClr val="E8E4DC"/>
                </a:solidFill>
                <a:latin typeface="Malgun Gothic"/>
              </a:rPr>
              <a:t>반도체 종료 신호 vs 이후 자산 이동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97280"/>
            <a:ext cx="10820095" cy="5080"/>
          </a:xfrm>
          <a:prstGeom prst="rect">
            <a:avLst/>
          </a:prstGeom>
          <a:solidFill>
            <a:srgbClr val="A89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5282031" cy="5010912"/>
          </a:xfrm>
          <a:prstGeom prst="rect">
            <a:avLst/>
          </a:prstGeom>
          <a:solidFill>
            <a:srgbClr val="1A1A22"/>
          </a:solidFill>
          <a:ln w="635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5282031" cy="38100"/>
          </a:xfrm>
          <a:prstGeom prst="rect">
            <a:avLst/>
          </a:prstGeom>
          <a:solidFill>
            <a:srgbClr val="4A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426464"/>
            <a:ext cx="4916271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1" i="0">
                <a:solidFill>
                  <a:srgbClr val="A89878"/>
                </a:solidFill>
                <a:latin typeface="Malgun Gothic"/>
              </a:rPr>
              <a:t>4대 종료 신호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847088"/>
            <a:ext cx="4916271" cy="4445"/>
          </a:xfrm>
          <a:prstGeom prst="rect">
            <a:avLst/>
          </a:prstGeom>
          <a:solidFill>
            <a:srgbClr val="2A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1540" y="2121408"/>
            <a:ext cx="91440" cy="91440"/>
          </a:xfrm>
          <a:prstGeom prst="ellipse">
            <a:avLst/>
          </a:prstGeom>
          <a:solidFill>
            <a:srgbClr val="4A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1920240"/>
            <a:ext cx="4879695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300" b="0" i="0">
                <a:solidFill>
                  <a:srgbClr val="8A8680"/>
                </a:solidFill>
                <a:latin typeface="Malgun Gothic"/>
              </a:rPr>
              <a:t>HBM 공급 정상화 → 가격 프리미엄 소멸</a:t>
            </a:r>
          </a:p>
        </p:txBody>
      </p:sp>
      <p:sp>
        <p:nvSpPr>
          <p:cNvPr id="10" name="Oval 9"/>
          <p:cNvSpPr/>
          <p:nvPr/>
        </p:nvSpPr>
        <p:spPr>
          <a:xfrm>
            <a:off x="891540" y="2615184"/>
            <a:ext cx="91440" cy="91440"/>
          </a:xfrm>
          <a:prstGeom prst="ellipse">
            <a:avLst/>
          </a:prstGeom>
          <a:solidFill>
            <a:srgbClr val="4A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51560" y="2414016"/>
            <a:ext cx="4879695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300" b="0" i="0">
                <a:solidFill>
                  <a:srgbClr val="8A8680"/>
                </a:solidFill>
                <a:latin typeface="Malgun Gothic"/>
              </a:rPr>
              <a:t>AI CAPEX 증가율 YoY 둔화 확인</a:t>
            </a:r>
          </a:p>
        </p:txBody>
      </p:sp>
      <p:sp>
        <p:nvSpPr>
          <p:cNvPr id="12" name="Oval 11"/>
          <p:cNvSpPr/>
          <p:nvPr/>
        </p:nvSpPr>
        <p:spPr>
          <a:xfrm>
            <a:off x="891540" y="3108960"/>
            <a:ext cx="91440" cy="91440"/>
          </a:xfrm>
          <a:prstGeom prst="ellipse">
            <a:avLst/>
          </a:prstGeom>
          <a:solidFill>
            <a:srgbClr val="4A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51560" y="2907792"/>
            <a:ext cx="4879695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300" b="0" i="0">
                <a:solidFill>
                  <a:srgbClr val="8A8680"/>
                </a:solidFill>
                <a:latin typeface="Malgun Gothic"/>
              </a:rPr>
              <a:t>어닝 서프라이즈에도 주가 횡보·하락</a:t>
            </a:r>
          </a:p>
        </p:txBody>
      </p:sp>
      <p:sp>
        <p:nvSpPr>
          <p:cNvPr id="14" name="Oval 13"/>
          <p:cNvSpPr/>
          <p:nvPr/>
        </p:nvSpPr>
        <p:spPr>
          <a:xfrm>
            <a:off x="891540" y="3602736"/>
            <a:ext cx="91440" cy="91440"/>
          </a:xfrm>
          <a:prstGeom prst="ellipse">
            <a:avLst/>
          </a:prstGeom>
          <a:solidFill>
            <a:srgbClr val="4A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51560" y="3401568"/>
            <a:ext cx="4879695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300" b="0" i="0">
                <a:solidFill>
                  <a:srgbClr val="8A8680"/>
                </a:solidFill>
                <a:latin typeface="Malgun Gothic"/>
              </a:rPr>
              <a:t>성장률 피크아웃 → QoQ 모멘텀 전환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23863" y="1298448"/>
            <a:ext cx="5282031" cy="5010912"/>
          </a:xfrm>
          <a:prstGeom prst="rect">
            <a:avLst/>
          </a:prstGeom>
          <a:solidFill>
            <a:srgbClr val="1A1A22"/>
          </a:solidFill>
          <a:ln w="635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3863" y="1298448"/>
            <a:ext cx="5282031" cy="38100"/>
          </a:xfrm>
          <a:prstGeom prst="rect">
            <a:avLst/>
          </a:prstGeom>
          <a:solidFill>
            <a:srgbClr val="6A9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6743" y="1426464"/>
            <a:ext cx="4916271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1" i="0">
                <a:solidFill>
                  <a:srgbClr val="A89878"/>
                </a:solidFill>
                <a:latin typeface="Malgun Gothic"/>
              </a:rPr>
              <a:t>이후 이동 자산군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6743" y="1847088"/>
            <a:ext cx="4916271" cy="4445"/>
          </a:xfrm>
          <a:prstGeom prst="rect">
            <a:avLst/>
          </a:prstGeom>
          <a:solidFill>
            <a:srgbClr val="2A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29603" y="2121408"/>
            <a:ext cx="91440" cy="91440"/>
          </a:xfrm>
          <a:prstGeom prst="ellipse">
            <a:avLst/>
          </a:prstGeom>
          <a:solidFill>
            <a:srgbClr val="6A9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9623" y="1920240"/>
            <a:ext cx="4879695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300" b="0" i="0">
                <a:solidFill>
                  <a:srgbClr val="8A8680"/>
                </a:solidFill>
                <a:latin typeface="Malgun Gothic"/>
              </a:rPr>
              <a:t>Microsoft — AI Monetization (Copilot)</a:t>
            </a:r>
          </a:p>
        </p:txBody>
      </p:sp>
      <p:sp>
        <p:nvSpPr>
          <p:cNvPr id="22" name="Oval 21"/>
          <p:cNvSpPr/>
          <p:nvPr/>
        </p:nvSpPr>
        <p:spPr>
          <a:xfrm>
            <a:off x="6429603" y="2615184"/>
            <a:ext cx="91440" cy="91440"/>
          </a:xfrm>
          <a:prstGeom prst="ellipse">
            <a:avLst/>
          </a:prstGeom>
          <a:solidFill>
            <a:srgbClr val="6A9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9623" y="2414016"/>
            <a:ext cx="4879695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300" b="0" i="0">
                <a:solidFill>
                  <a:srgbClr val="8A8680"/>
                </a:solidFill>
                <a:latin typeface="Malgun Gothic"/>
              </a:rPr>
              <a:t>Amazon — AWS AI 클라우드 마진 확대</a:t>
            </a:r>
          </a:p>
        </p:txBody>
      </p:sp>
      <p:sp>
        <p:nvSpPr>
          <p:cNvPr id="24" name="Oval 23"/>
          <p:cNvSpPr/>
          <p:nvPr/>
        </p:nvSpPr>
        <p:spPr>
          <a:xfrm>
            <a:off x="6429603" y="3108960"/>
            <a:ext cx="91440" cy="91440"/>
          </a:xfrm>
          <a:prstGeom prst="ellipse">
            <a:avLst/>
          </a:prstGeom>
          <a:solidFill>
            <a:srgbClr val="6A9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9623" y="2907792"/>
            <a:ext cx="4879695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300" b="0" i="0">
                <a:solidFill>
                  <a:srgbClr val="8A8680"/>
                </a:solidFill>
                <a:latin typeface="Malgun Gothic"/>
              </a:rPr>
              <a:t>Broadcom — 커스텀 ASIC 수주 잔고</a:t>
            </a:r>
          </a:p>
        </p:txBody>
      </p:sp>
      <p:sp>
        <p:nvSpPr>
          <p:cNvPr id="26" name="Oval 25"/>
          <p:cNvSpPr/>
          <p:nvPr/>
        </p:nvSpPr>
        <p:spPr>
          <a:xfrm>
            <a:off x="6429603" y="3602736"/>
            <a:ext cx="91440" cy="91440"/>
          </a:xfrm>
          <a:prstGeom prst="ellipse">
            <a:avLst/>
          </a:prstGeom>
          <a:solidFill>
            <a:srgbClr val="6A9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9623" y="3401568"/>
            <a:ext cx="4879695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300" b="0" i="0">
                <a:solidFill>
                  <a:srgbClr val="8A8680"/>
                </a:solidFill>
                <a:latin typeface="Malgun Gothic"/>
              </a:rPr>
              <a:t>현금 — 다음 사이클 재진입 실탄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48640"/>
            <a:ext cx="91440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4300" rIns="114300"/>
          <a:lstStyle/>
          <a:p>
            <a:pPr algn="l"/>
            <a:r>
              <a:rPr sz="7200" b="1" i="0">
                <a:solidFill>
                  <a:srgbClr val="2A2A30"/>
                </a:solidFill>
                <a:latin typeface="Malgun Gothic"/>
              </a:rPr>
              <a:t>“</a:t>
            </a:r>
          </a:p>
        </p:txBody>
      </p:sp>
      <p:sp>
        <p:nvSpPr>
          <p:cNvPr id="3" name="Rectangle 2"/>
          <p:cNvSpPr/>
          <p:nvPr/>
        </p:nvSpPr>
        <p:spPr>
          <a:xfrm>
            <a:off x="813816" y="932688"/>
            <a:ext cx="31750" cy="2286000"/>
          </a:xfrm>
          <a:prstGeom prst="rect">
            <a:avLst/>
          </a:prstGeom>
          <a:solidFill>
            <a:srgbClr val="A89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24712" y="2148840"/>
            <a:ext cx="8872477" cy="2377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E8E4DC"/>
                </a:solidFill>
                <a:latin typeface="Malgun Gothic"/>
              </a:rPr>
              <a:t>상승을 맞추는 것보다</a:t>
            </a:r>
          </a:p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E8E4DC"/>
                </a:solidFill>
                <a:latin typeface="Malgun Gothic"/>
              </a:rPr>
              <a:t>과열 종료 시점을 관리하는 것이</a:t>
            </a:r>
          </a:p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E8E4DC"/>
                </a:solidFill>
                <a:latin typeface="Malgun Gothic"/>
              </a:rPr>
              <a:t>더 중요하다.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24712" y="4617720"/>
            <a:ext cx="2286000" cy="5080"/>
          </a:xfrm>
          <a:prstGeom prst="rect">
            <a:avLst/>
          </a:prstGeom>
          <a:solidFill>
            <a:srgbClr val="A89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4712" y="4709160"/>
            <a:ext cx="7574066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0" i="0">
                <a:solidFill>
                  <a:srgbClr val="8A8680"/>
                </a:solidFill>
                <a:latin typeface="Malgun Gothic"/>
              </a:rPr>
              <a:t>— Mid-Cycle Distribution Strategy ·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48640"/>
            <a:ext cx="38100" cy="5760720"/>
          </a:xfrm>
          <a:prstGeom prst="rect">
            <a:avLst/>
          </a:prstGeom>
          <a:solidFill>
            <a:srgbClr val="4A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2377440"/>
            <a:ext cx="8656076" cy="10058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3600" b="1" i="0">
                <a:solidFill>
                  <a:srgbClr val="E8E4DC"/>
                </a:solidFill>
                <a:latin typeface="Malgun Gothic"/>
              </a:rPr>
              <a:t>질문 및 토론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3456432"/>
            <a:ext cx="5951052" cy="6350"/>
          </a:xfrm>
          <a:prstGeom prst="rect">
            <a:avLst/>
          </a:prstGeom>
          <a:solidFill>
            <a:srgbClr val="A89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" y="3621024"/>
            <a:ext cx="8656076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300" b="0" i="0">
                <a:solidFill>
                  <a:srgbClr val="8A8680"/>
                </a:solidFill>
                <a:latin typeface="Malgun Gothic"/>
              </a:rPr>
              <a:t>전략 메모 · 2026년 5월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059936"/>
            <a:ext cx="8656076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0" i="0">
                <a:solidFill>
                  <a:srgbClr val="5A5858"/>
                </a:solidFill>
                <a:latin typeface="Malgun Gothic"/>
              </a:rPr>
              <a:t>별첨: 트레일링 스탑 운영 로그 / 종목별 분기 실적 체크포인트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