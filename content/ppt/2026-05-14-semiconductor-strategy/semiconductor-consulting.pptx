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38100" cy="5760720"/>
          </a:xfrm>
          <a:prstGeom prst="rect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594360"/>
            <a:ext cx="10362895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7860"/>
                </a:solidFill>
                <a:latin typeface="Malgun Gothic"/>
              </a:rPr>
              <a:t>INVESTMENT STRATEGY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024128"/>
            <a:ext cx="10088575" cy="2468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A1814"/>
                </a:solidFill>
                <a:latin typeface="Malgun Gothic"/>
              </a:rPr>
              <a:t>AI/HBM 사이클 기반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1A1814"/>
                </a:solidFill>
                <a:latin typeface="Malgun Gothic"/>
              </a:rPr>
              <a:t>반도체 투자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383280"/>
            <a:ext cx="10088575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700" b="0" i="0">
                <a:solidFill>
                  <a:srgbClr val="5A5248"/>
                </a:solidFill>
                <a:latin typeface="Malgun Gothic"/>
              </a:rPr>
              <a:t>Mid-Cycle Distribution &amp; Re-Entry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5257800"/>
            <a:ext cx="10454335" cy="635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5394960"/>
            <a:ext cx="10454335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9A9088"/>
                </a:solidFill>
                <a:latin typeface="Malgun Gothic"/>
              </a:rPr>
              <a:t>2026.05 · 팀원/임원 보고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587044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1D4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2D6EAA"/>
                </a:solidFill>
                <a:latin typeface="Malgun Gothic"/>
              </a:rPr>
              <a:t>보고형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587044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1D4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2D6EAA"/>
                </a:solidFill>
                <a:latin typeface="Malgun Gothic"/>
              </a:rPr>
              <a:t>반도체 섹터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6" y="5870448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1D4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2D6EAA"/>
                </a:solidFill>
                <a:latin typeface="Malgun Gothic"/>
              </a:rPr>
              <a:t>사이클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1A1814"/>
                </a:solidFill>
                <a:latin typeface="Malgun Gothic"/>
              </a:rPr>
              <a:t>핵심 결론 — 3줄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349697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496970" cy="38100"/>
          </a:xfrm>
          <a:prstGeom prst="rect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349697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7860"/>
                </a:solidFill>
                <a:latin typeface="Malgun Gothic"/>
              </a:rPr>
              <a:t>현재 국면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49697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1A1814"/>
                </a:solidFill>
                <a:latin typeface="Malgun Gothic"/>
              </a:rPr>
              <a:t>FOMO</a:t>
            </a:r>
          </a:p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1A1814"/>
                </a:solidFill>
                <a:latin typeface="Malgun Gothic"/>
              </a:rPr>
              <a:t>후기 가속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91840"/>
            <a:ext cx="349697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5A5248"/>
                </a:solidFill>
                <a:latin typeface="Malgun Gothic"/>
              </a:rPr>
              <a:t>밸류에이션 확장 중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824728"/>
            <a:ext cx="349697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5A5248"/>
                </a:solidFill>
                <a:latin typeface="Malgun Gothic"/>
              </a:rPr>
              <a:t>실적이 아닌 기대감 주도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7362" y="1325880"/>
            <a:ext cx="349697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7362" y="1325880"/>
            <a:ext cx="3496970" cy="38100"/>
          </a:xfrm>
          <a:prstGeom prst="rect">
            <a:avLst/>
          </a:prstGeom>
          <a:solidFill>
            <a:srgbClr val="2A5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7362" y="1508760"/>
            <a:ext cx="349697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7860"/>
                </a:solidFill>
                <a:latin typeface="Malgun Gothic"/>
              </a:rPr>
              <a:t>전략 목표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7362" y="1920240"/>
            <a:ext cx="349697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1A1814"/>
                </a:solidFill>
                <a:latin typeface="Malgun Gothic"/>
              </a:rPr>
              <a:t>피크</a:t>
            </a:r>
          </a:p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1A1814"/>
                </a:solidFill>
                <a:latin typeface="Malgun Gothic"/>
              </a:rPr>
              <a:t>분배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7362" y="3291840"/>
            <a:ext cx="349697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5A5248"/>
                </a:solidFill>
                <a:latin typeface="Malgun Gothic"/>
              </a:rPr>
              <a:t>1차 조정 → 재매수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7362" y="5824728"/>
            <a:ext cx="349697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5A5248"/>
                </a:solidFill>
                <a:latin typeface="Malgun Gothic"/>
              </a:rPr>
              <a:t>Buy &amp; Hold 아닌 사이클 운영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8924" y="1325880"/>
            <a:ext cx="349697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8924" y="1325880"/>
            <a:ext cx="3496970" cy="38100"/>
          </a:xfrm>
          <a:prstGeom prst="rect">
            <a:avLst/>
          </a:prstGeom>
          <a:solidFill>
            <a:srgbClr val="8A6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8924" y="1508760"/>
            <a:ext cx="349697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8A7860"/>
                </a:solidFill>
                <a:latin typeface="Malgun Gothic"/>
              </a:rPr>
              <a:t>최종 행선지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8924" y="1920240"/>
            <a:ext cx="3496970" cy="1325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1A1814"/>
                </a:solidFill>
                <a:latin typeface="Malgun Gothic"/>
              </a:rPr>
              <a:t>AI</a:t>
            </a:r>
          </a:p>
          <a:p>
            <a:pPr algn="ctr">
              <a:lnSpc>
                <a:spcPct val="110000"/>
              </a:lnSpc>
            </a:pPr>
            <a:r>
              <a:rPr sz="3600" b="1" i="0">
                <a:solidFill>
                  <a:srgbClr val="1A1814"/>
                </a:solidFill>
                <a:latin typeface="Malgun Gothic"/>
              </a:rPr>
              <a:t>플랫폼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8924" y="3291840"/>
            <a:ext cx="349697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5A5248"/>
                </a:solidFill>
                <a:latin typeface="Malgun Gothic"/>
              </a:rPr>
              <a:t>MSFT / AMZN / AVGO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8924" y="5824728"/>
            <a:ext cx="349697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5A5248"/>
                </a:solidFill>
                <a:latin typeface="Malgun Gothic"/>
              </a:rPr>
              <a:t>멀티플 압축 후 이동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0" b="1" i="0">
                <a:solidFill>
                  <a:srgbClr val="D8D0C4"/>
                </a:solidFill>
                <a:latin typeface="Malgun Gothic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0632"/>
            <a:ext cx="3657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7860"/>
                </a:solidFill>
                <a:latin typeface="Malgun Gothic"/>
              </a:rPr>
              <a:t>Section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27832"/>
            <a:ext cx="5951052" cy="635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757406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000" b="1" i="0">
                <a:solidFill>
                  <a:srgbClr val="1A1814"/>
                </a:solidFill>
                <a:latin typeface="Malgun Gothic"/>
              </a:rPr>
              <a:t>투자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42232"/>
            <a:ext cx="7033061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0" i="0">
                <a:solidFill>
                  <a:srgbClr val="5A5248"/>
                </a:solidFill>
                <a:latin typeface="Malgun Gothic"/>
              </a:rPr>
              <a:t>현재 구간 진단 · 핵심 판단 기준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1A1814"/>
                </a:solidFill>
                <a:latin typeface="Malgun Gothic"/>
              </a:rPr>
              <a:t>현재 구간 — FOMO 후기 가속 4대 시그널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282031" cy="5010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282031" cy="38100"/>
          </a:xfrm>
          <a:prstGeom prst="rect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4916271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8A7860"/>
                </a:solidFill>
                <a:latin typeface="Malgun Gothic"/>
              </a:rPr>
              <a:t>과열 시그널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4916271" cy="4445"/>
          </a:xfrm>
          <a:prstGeom prst="rect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540" y="2121408"/>
            <a:ext cx="91440" cy="9144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920240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HBM 공급 부족 → 가격 프리미엄 지속</a:t>
            </a:r>
          </a:p>
        </p:txBody>
      </p:sp>
      <p:sp>
        <p:nvSpPr>
          <p:cNvPr id="10" name="Oval 9"/>
          <p:cNvSpPr/>
          <p:nvPr/>
        </p:nvSpPr>
        <p:spPr>
          <a:xfrm>
            <a:off x="891540" y="2615184"/>
            <a:ext cx="91440" cy="9144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414016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AI 인프라 CAPEX 사상 최고치 경신</a:t>
            </a:r>
          </a:p>
        </p:txBody>
      </p:sp>
      <p:sp>
        <p:nvSpPr>
          <p:cNvPr id="12" name="Oval 11"/>
          <p:cNvSpPr/>
          <p:nvPr/>
        </p:nvSpPr>
        <p:spPr>
          <a:xfrm>
            <a:off x="891540" y="3108960"/>
            <a:ext cx="91440" cy="9144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2907792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기관/개인 추격 매수 + FOMO 유입</a:t>
            </a:r>
          </a:p>
        </p:txBody>
      </p:sp>
      <p:sp>
        <p:nvSpPr>
          <p:cNvPr id="14" name="Oval 13"/>
          <p:cNvSpPr/>
          <p:nvPr/>
        </p:nvSpPr>
        <p:spPr>
          <a:xfrm>
            <a:off x="891540" y="3602736"/>
            <a:ext cx="91440" cy="9144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3401568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목표주가 상향 릴레이 → 밸류에이션 확장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863" y="1298448"/>
            <a:ext cx="5282031" cy="5010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298448"/>
            <a:ext cx="5282031" cy="38100"/>
          </a:xfrm>
          <a:prstGeom prst="rect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6743" y="1426464"/>
            <a:ext cx="4916271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8A7860"/>
                </a:solidFill>
                <a:latin typeface="Malgun Gothic"/>
              </a:rPr>
              <a:t>핵심 판단 기준 전환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6743" y="1847088"/>
            <a:ext cx="4916271" cy="4445"/>
          </a:xfrm>
          <a:prstGeom prst="rect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9603" y="2121408"/>
            <a:ext cx="91440" cy="9144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9623" y="1920240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틀린 질문: '좋은 기업인가?'</a:t>
            </a:r>
          </a:p>
        </p:txBody>
      </p:sp>
      <p:sp>
        <p:nvSpPr>
          <p:cNvPr id="22" name="Oval 21"/>
          <p:cNvSpPr/>
          <p:nvPr/>
        </p:nvSpPr>
        <p:spPr>
          <a:xfrm>
            <a:off x="6429603" y="2615184"/>
            <a:ext cx="91440" cy="9144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9623" y="2414016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맞는 질문: '성장률 가속이 언제 꺾이는가?'</a:t>
            </a:r>
          </a:p>
        </p:txBody>
      </p:sp>
      <p:sp>
        <p:nvSpPr>
          <p:cNvPr id="24" name="Oval 23"/>
          <p:cNvSpPr/>
          <p:nvPr/>
        </p:nvSpPr>
        <p:spPr>
          <a:xfrm>
            <a:off x="6429603" y="3108960"/>
            <a:ext cx="91440" cy="9144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9623" y="2907792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멀티플 확장은 기대감 기반 → 둔화 시점이 탈출 신호</a:t>
            </a:r>
          </a:p>
        </p:txBody>
      </p:sp>
      <p:sp>
        <p:nvSpPr>
          <p:cNvPr id="26" name="Oval 25"/>
          <p:cNvSpPr/>
          <p:nvPr/>
        </p:nvSpPr>
        <p:spPr>
          <a:xfrm>
            <a:off x="6429603" y="3602736"/>
            <a:ext cx="91440" cy="9144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9623" y="3401568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기업 퀄리티 ≠ 주가 퍼포먼스 (사이클 후기)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1A1814"/>
                </a:solidFill>
                <a:latin typeface="Malgun Gothic"/>
              </a:rPr>
              <a:t>예상 사이클 — 5단계 시나리오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3026664"/>
            <a:ext cx="19299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026664"/>
            <a:ext cx="1929932" cy="50800"/>
          </a:xfrm>
          <a:prstGeom prst="rect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31684" y="3118104"/>
            <a:ext cx="292608" cy="292608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31684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F5F0E6"/>
                </a:solidFill>
                <a:latin typeface="Malgun Gothic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1A1814"/>
                </a:solidFill>
                <a:latin typeface="Malgun Gothic"/>
              </a:rPr>
              <a:t>상반기 과열 지속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5A5248"/>
                </a:solidFill>
                <a:latin typeface="Malgun Gothic"/>
              </a:rPr>
              <a:t>현재 위치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4020" y="3639312"/>
            <a:ext cx="256032" cy="329184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8340" y="3026664"/>
            <a:ext cx="19299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5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8340" y="3026664"/>
            <a:ext cx="1929932" cy="50800"/>
          </a:xfrm>
          <a:prstGeom prst="rect">
            <a:avLst/>
          </a:prstGeom>
          <a:solidFill>
            <a:srgbClr val="2A5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54225" y="3118104"/>
            <a:ext cx="292608" cy="292608"/>
          </a:xfrm>
          <a:prstGeom prst="ellipse">
            <a:avLst/>
          </a:prstGeom>
          <a:solidFill>
            <a:srgbClr val="2A5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4225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F5F0E6"/>
                </a:solidFill>
                <a:latin typeface="Malgun Gothi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99780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1A1814"/>
                </a:solidFill>
                <a:latin typeface="Malgun Gothic"/>
              </a:rPr>
              <a:t>단기 조정 발생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9780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5A5248"/>
                </a:solidFill>
                <a:latin typeface="Malgun Gothic"/>
              </a:rPr>
              <a:t>1차 분배 후 대기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56561" y="3639312"/>
            <a:ext cx="256032" cy="329184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0881" y="3026664"/>
            <a:ext cx="19299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A6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0881" y="3026664"/>
            <a:ext cx="1929932" cy="50800"/>
          </a:xfrm>
          <a:prstGeom prst="rect">
            <a:avLst/>
          </a:prstGeom>
          <a:solidFill>
            <a:srgbClr val="8A6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76765" y="3118104"/>
            <a:ext cx="292608" cy="292608"/>
          </a:xfrm>
          <a:prstGeom prst="ellipse">
            <a:avLst/>
          </a:prstGeom>
          <a:solidFill>
            <a:srgbClr val="8A6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6765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F5F0E6"/>
                </a:solidFill>
                <a:latin typeface="Malgun Gothic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2321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1A1814"/>
                </a:solidFill>
                <a:latin typeface="Malgun Gothic"/>
              </a:rPr>
              <a:t>피날레 랠리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2321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5A5248"/>
                </a:solidFill>
                <a:latin typeface="Malgun Gothic"/>
              </a:rPr>
              <a:t>재매수 + 수량 증가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79101" y="3639312"/>
            <a:ext cx="256032" cy="329184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3421" y="3026664"/>
            <a:ext cx="19299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3421" y="3026664"/>
            <a:ext cx="1929932" cy="50800"/>
          </a:xfrm>
          <a:prstGeom prst="rect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99306" y="3118104"/>
            <a:ext cx="292608" cy="292608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99306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F5F0E6"/>
                </a:solidFill>
                <a:latin typeface="Malgun Gothic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4861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1A1814"/>
                </a:solidFill>
                <a:latin typeface="Malgun Gothic"/>
              </a:rPr>
              <a:t>성장률 둔화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44861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5A5248"/>
                </a:solidFill>
                <a:latin typeface="Malgun Gothic"/>
              </a:rPr>
              <a:t>최종 탈출 준비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01642" y="3639312"/>
            <a:ext cx="256032" cy="329184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75962" y="3026664"/>
            <a:ext cx="19299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A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75962" y="3026664"/>
            <a:ext cx="1929932" cy="5080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21847" y="3118104"/>
            <a:ext cx="292608" cy="292608"/>
          </a:xfrm>
          <a:prstGeom prst="ellipse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21847" y="3118104"/>
            <a:ext cx="292608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1" i="0">
                <a:solidFill>
                  <a:srgbClr val="F5F0E6"/>
                </a:solidFill>
                <a:latin typeface="Malgun Gothic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67402" y="3191256"/>
            <a:ext cx="17470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300" b="1" i="0">
                <a:solidFill>
                  <a:srgbClr val="1A1814"/>
                </a:solidFill>
                <a:latin typeface="Malgun Gothic"/>
              </a:rPr>
              <a:t>멀티플 압축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67402" y="4050792"/>
            <a:ext cx="1747052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ctr"/>
            <a:r>
              <a:rPr sz="1200" b="0" i="0">
                <a:solidFill>
                  <a:srgbClr val="5A5248"/>
                </a:solidFill>
                <a:latin typeface="Malgun Gothic"/>
              </a:rPr>
              <a:t>비중 대폭 축소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0" b="1" i="0">
                <a:solidFill>
                  <a:srgbClr val="D8D0C4"/>
                </a:solidFill>
                <a:latin typeface="Malgun Gothic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0632"/>
            <a:ext cx="3657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7860"/>
                </a:solidFill>
                <a:latin typeface="Malgun Gothic"/>
              </a:rPr>
              <a:t>Section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27832"/>
            <a:ext cx="5951052" cy="635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757406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000" b="1" i="0">
                <a:solidFill>
                  <a:srgbClr val="1A1814"/>
                </a:solidFill>
                <a:latin typeface="Malgun Gothic"/>
              </a:rPr>
              <a:t>핵심 전략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42232"/>
            <a:ext cx="7033061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0" i="0">
                <a:solidFill>
                  <a:srgbClr val="5A5248"/>
                </a:solidFill>
                <a:latin typeface="Malgun Gothic"/>
              </a:rPr>
              <a:t>전략 Flow · 7단계 운영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1A1814"/>
                </a:solidFill>
                <a:latin typeface="Malgun Gothic"/>
              </a:rPr>
              <a:t>전략 Flow — 7단계 사이클 운영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26464"/>
            <a:ext cx="19050" cy="4700016"/>
          </a:xfrm>
          <a:prstGeom prst="rect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739188"/>
            <a:ext cx="182880" cy="18288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92630" y="1720138"/>
            <a:ext cx="220980" cy="220980"/>
          </a:xfrm>
          <a:prstGeom prst="ellipse">
            <a:avLst/>
          </a:prstGeom>
          <a:noFill/>
          <a:ln w="12700">
            <a:solidFill>
              <a:srgbClr val="1D4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9460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8A7860"/>
                </a:solidFill>
                <a:latin typeface="Malgun Gothic"/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2" y="1464868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1A1814"/>
                </a:solidFill>
                <a:latin typeface="Malgun Gothic"/>
              </a:rPr>
              <a:t>과열 구간 진입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1848916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밸류에이션 확장 속도 + 수급 과열 감지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2693822"/>
            <a:ext cx="182880" cy="182880"/>
          </a:xfrm>
          <a:prstGeom prst="ellipse">
            <a:avLst/>
          </a:prstGeom>
          <a:solidFill>
            <a:srgbClr val="2A5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92630" y="2674772"/>
            <a:ext cx="220980" cy="220980"/>
          </a:xfrm>
          <a:prstGeom prst="ellipse">
            <a:avLst/>
          </a:prstGeom>
          <a:noFill/>
          <a:ln w="12700">
            <a:solidFill>
              <a:srgbClr val="2A5E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84094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8A7860"/>
                </a:solidFill>
                <a:latin typeface="Malgun Gothic"/>
              </a:rPr>
              <a:t>STEP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2419502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1A1814"/>
                </a:solidFill>
                <a:latin typeface="Malgun Gothic"/>
              </a:rPr>
              <a:t>트레일링 스탑 1차 분배 (50%)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0592" y="2803550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현금 확보 — 재매수 재원 마련</a:t>
            </a:r>
          </a:p>
        </p:txBody>
      </p:sp>
      <p:sp>
        <p:nvSpPr>
          <p:cNvPr id="15" name="Oval 14"/>
          <p:cNvSpPr/>
          <p:nvPr/>
        </p:nvSpPr>
        <p:spPr>
          <a:xfrm>
            <a:off x="2011680" y="3648456"/>
            <a:ext cx="182880" cy="18288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92630" y="3629406"/>
            <a:ext cx="220980" cy="220980"/>
          </a:xfrm>
          <a:prstGeom prst="ellipse">
            <a:avLst/>
          </a:prstGeom>
          <a:noFill/>
          <a:ln w="12700">
            <a:solidFill>
              <a:srgbClr val="2D6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538728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8A7860"/>
                </a:solidFill>
                <a:latin typeface="Malgun Gothic"/>
              </a:rPr>
              <a:t>STEP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0592" y="3374136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1A1814"/>
                </a:solidFill>
                <a:latin typeface="Malgun Gothic"/>
              </a:rPr>
              <a:t>단기 조정 대기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50592" y="3758184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조정 깊이 확인 후 재진입 타이밍 포착</a:t>
            </a:r>
          </a:p>
        </p:txBody>
      </p:sp>
      <p:sp>
        <p:nvSpPr>
          <p:cNvPr id="20" name="Oval 19"/>
          <p:cNvSpPr/>
          <p:nvPr/>
        </p:nvSpPr>
        <p:spPr>
          <a:xfrm>
            <a:off x="2011680" y="4603089"/>
            <a:ext cx="182880" cy="182880"/>
          </a:xfrm>
          <a:prstGeom prst="ellipse">
            <a:avLst/>
          </a:prstGeom>
          <a:solidFill>
            <a:srgbClr val="8A6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92630" y="4584039"/>
            <a:ext cx="220980" cy="220980"/>
          </a:xfrm>
          <a:prstGeom prst="ellipse">
            <a:avLst/>
          </a:prstGeom>
          <a:noFill/>
          <a:ln w="12700">
            <a:solidFill>
              <a:srgbClr val="8A6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493361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8A7860"/>
                </a:solidFill>
                <a:latin typeface="Malgun Gothic"/>
              </a:rPr>
              <a:t>STEP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50592" y="4328769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1A1814"/>
                </a:solidFill>
                <a:latin typeface="Malgun Gothic"/>
              </a:rPr>
              <a:t>재매수 + 수량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0592" y="4712817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평균단가 개선 + 포지션 확대</a:t>
            </a:r>
          </a:p>
        </p:txBody>
      </p:sp>
      <p:sp>
        <p:nvSpPr>
          <p:cNvPr id="25" name="Oval 24"/>
          <p:cNvSpPr/>
          <p:nvPr/>
        </p:nvSpPr>
        <p:spPr>
          <a:xfrm>
            <a:off x="2011680" y="5557723"/>
            <a:ext cx="182880" cy="182880"/>
          </a:xfrm>
          <a:prstGeom prst="ellipse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92630" y="5538673"/>
            <a:ext cx="220980" cy="220980"/>
          </a:xfrm>
          <a:prstGeom prst="ellipse">
            <a:avLst/>
          </a:prstGeom>
          <a:noFill/>
          <a:ln w="12700">
            <a:solidFill>
              <a:srgbClr val="8A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447995"/>
            <a:ext cx="1188720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r"/>
            <a:r>
              <a:rPr sz="1200" b="1" i="0">
                <a:solidFill>
                  <a:srgbClr val="8A7860"/>
                </a:solidFill>
                <a:latin typeface="Malgun Gothic"/>
              </a:rPr>
              <a:t>STEP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50592" y="5283403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1" i="0">
                <a:solidFill>
                  <a:srgbClr val="1A1814"/>
                </a:solidFill>
                <a:latin typeface="Malgun Gothic"/>
              </a:rPr>
              <a:t>피날레 랠리 → 최종 탈출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50592" y="5667451"/>
            <a:ext cx="9037015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트레일링 스탑 발동 후 반도체 비중 축소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0" b="1" i="0">
                <a:solidFill>
                  <a:srgbClr val="D8D0C4"/>
                </a:solidFill>
                <a:latin typeface="Malgun Gothic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0632"/>
            <a:ext cx="3657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7860"/>
                </a:solidFill>
                <a:latin typeface="Malgun Gothic"/>
              </a:rPr>
              <a:t>Section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27832"/>
            <a:ext cx="5951052" cy="635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757406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000" b="1" i="0">
                <a:solidFill>
                  <a:srgbClr val="1A1814"/>
                </a:solidFill>
                <a:latin typeface="Malgun Gothic"/>
              </a:rPr>
              <a:t>종목별 운영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42232"/>
            <a:ext cx="7033061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0" i="0">
                <a:solidFill>
                  <a:srgbClr val="5A5248"/>
                </a:solidFill>
                <a:latin typeface="Malgun Gothic"/>
              </a:rPr>
              <a:t>역할 분류 · 트레일링 스탑 기준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1A1814"/>
                </a:solidFill>
                <a:latin typeface="Malgun Gothic"/>
              </a:rPr>
              <a:t>종목별 역할 및 트레일링 스탑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10820095" cy="493776"/>
          </a:xfrm>
          <a:prstGeom prst="rect">
            <a:avLst/>
          </a:prstGeom>
          <a:solidFill>
            <a:srgbClr val="F0EBE0"/>
          </a:solidFill>
          <a:ln w="381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87144"/>
            <a:ext cx="10820095" cy="762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8A7860"/>
                </a:solidFill>
                <a:latin typeface="Malgun Gothic"/>
              </a:rPr>
              <a:t>종목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9819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2D6EAA"/>
                </a:solidFill>
                <a:latin typeface="Malgun Gothic"/>
              </a:rPr>
              <a:t>역할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3838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8A7860"/>
                </a:solidFill>
                <a:latin typeface="Malgun Gothic"/>
              </a:rPr>
              <a:t>1차 분배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7857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8A7860"/>
                </a:solidFill>
                <a:latin typeface="Malgun Gothic"/>
              </a:rPr>
              <a:t>최종 탈출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41876" y="129844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8A7860"/>
                </a:solidFill>
                <a:latin typeface="Malgun Gothic"/>
              </a:rPr>
              <a:t>핵심 전략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792224"/>
            <a:ext cx="10820095" cy="493776"/>
          </a:xfrm>
          <a:prstGeom prst="rect">
            <a:avLst/>
          </a:prstGeom>
          <a:solidFill>
            <a:srgbClr val="FFFFFF"/>
          </a:solidFill>
          <a:ln w="254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SK하이닉스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9819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1A1814"/>
                </a:solidFill>
                <a:latin typeface="Malgun Gothic"/>
              </a:rPr>
              <a:t>메인 주도주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3838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8.5~9%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7857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12~13%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41876" y="1792224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마지막 기관 랠리까지 추세 활용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286000"/>
            <a:ext cx="10820095" cy="493776"/>
          </a:xfrm>
          <a:prstGeom prst="rect">
            <a:avLst/>
          </a:prstGeom>
          <a:solidFill>
            <a:srgbClr val="F5F0E6"/>
          </a:solidFill>
          <a:ln w="254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삼성전자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49819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1A1814"/>
                </a:solidFill>
                <a:latin typeface="Malgun Gothic"/>
              </a:rPr>
              <a:t>안정 코어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3838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6.5~7%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7857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9~10%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1876" y="2286000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가장 늦게 비중 축소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779776"/>
            <a:ext cx="10820095" cy="493776"/>
          </a:xfrm>
          <a:prstGeom prst="rect">
            <a:avLst/>
          </a:prstGeom>
          <a:solidFill>
            <a:srgbClr val="FFFFFF"/>
          </a:solidFill>
          <a:ln w="254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한미반도체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49819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1A1814"/>
                </a:solidFill>
                <a:latin typeface="Malgun Gothic"/>
              </a:rPr>
              <a:t>과열 선행주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13838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3.5%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7857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10~11%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1876" y="2779776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실적 발표 전 최소 50% 매도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73552"/>
            <a:ext cx="10820095" cy="493776"/>
          </a:xfrm>
          <a:prstGeom prst="rect">
            <a:avLst/>
          </a:prstGeom>
          <a:solidFill>
            <a:srgbClr val="F5F0E6"/>
          </a:solidFill>
          <a:ln w="254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두산에너빌리티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9819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1A1814"/>
                </a:solidFill>
                <a:latin typeface="Malgun Gothic"/>
              </a:rPr>
              <a:t>비반도체 헷지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13838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7~8%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7857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10~11%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1876" y="3273552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후반까지 일부 유지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767328"/>
            <a:ext cx="10820095" cy="493776"/>
          </a:xfrm>
          <a:prstGeom prst="rect">
            <a:avLst/>
          </a:prstGeom>
          <a:solidFill>
            <a:srgbClr val="FFFFFF"/>
          </a:solidFill>
          <a:ln w="254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엔비디아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49819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1A1814"/>
                </a:solidFill>
                <a:latin typeface="Malgun Gothic"/>
              </a:rPr>
              <a:t>글로벌 기준축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13838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9~10%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7857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14~15%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41876" y="3767328"/>
            <a:ext cx="2164019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5A5248"/>
                </a:solidFill>
                <a:latin typeface="Malgun Gothic"/>
              </a:rPr>
              <a:t>AI 멀티플 피크 판단 기준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0" b="1" i="0">
                <a:solidFill>
                  <a:srgbClr val="D8D0C4"/>
                </a:solidFill>
                <a:latin typeface="Malgun Gothic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70632"/>
            <a:ext cx="36576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8A7860"/>
                </a:solidFill>
                <a:latin typeface="Malgun Gothic"/>
              </a:rPr>
              <a:t>Section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227832"/>
            <a:ext cx="5951052" cy="635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91840"/>
            <a:ext cx="7574066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000" b="1" i="0">
                <a:solidFill>
                  <a:srgbClr val="1A1814"/>
                </a:solidFill>
                <a:latin typeface="Malgun Gothic"/>
              </a:rPr>
              <a:t>Exit 전략 및 자산 이동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142232"/>
            <a:ext cx="7033061" cy="4389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400" b="0" i="0">
                <a:solidFill>
                  <a:srgbClr val="5A5248"/>
                </a:solidFill>
                <a:latin typeface="Malgun Gothic"/>
              </a:rPr>
              <a:t>종료 신호 · 이동 자산군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10820095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2200" b="1" i="0">
                <a:solidFill>
                  <a:srgbClr val="1A1814"/>
                </a:solidFill>
                <a:latin typeface="Malgun Gothic"/>
              </a:rPr>
              <a:t>반도체 종료 신호 vs 이후 자산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97280"/>
            <a:ext cx="10820095" cy="508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282031" cy="5010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282031" cy="38100"/>
          </a:xfrm>
          <a:prstGeom prst="rect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26464"/>
            <a:ext cx="4916271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8A7860"/>
                </a:solidFill>
                <a:latin typeface="Malgun Gothic"/>
              </a:rPr>
              <a:t>4대 종료 신호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4916271" cy="4445"/>
          </a:xfrm>
          <a:prstGeom prst="rect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1540" y="2121408"/>
            <a:ext cx="91440" cy="9144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920240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HBM 공급 정상화 → 가격 프리미엄 소멸</a:t>
            </a:r>
          </a:p>
        </p:txBody>
      </p:sp>
      <p:sp>
        <p:nvSpPr>
          <p:cNvPr id="10" name="Oval 9"/>
          <p:cNvSpPr/>
          <p:nvPr/>
        </p:nvSpPr>
        <p:spPr>
          <a:xfrm>
            <a:off x="891540" y="2615184"/>
            <a:ext cx="91440" cy="9144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414016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AI CAPEX 증가율 YoY 둔화 확인</a:t>
            </a:r>
          </a:p>
        </p:txBody>
      </p:sp>
      <p:sp>
        <p:nvSpPr>
          <p:cNvPr id="12" name="Oval 11"/>
          <p:cNvSpPr/>
          <p:nvPr/>
        </p:nvSpPr>
        <p:spPr>
          <a:xfrm>
            <a:off x="891540" y="3108960"/>
            <a:ext cx="91440" cy="9144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2907792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어닝 서프라이즈에도 주가 횡보·하락</a:t>
            </a:r>
          </a:p>
        </p:txBody>
      </p:sp>
      <p:sp>
        <p:nvSpPr>
          <p:cNvPr id="14" name="Oval 13"/>
          <p:cNvSpPr/>
          <p:nvPr/>
        </p:nvSpPr>
        <p:spPr>
          <a:xfrm>
            <a:off x="891540" y="3602736"/>
            <a:ext cx="91440" cy="91440"/>
          </a:xfrm>
          <a:prstGeom prst="ellipse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3401568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성장률 피크아웃 → QoQ 모멘텀 전환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3863" y="1298448"/>
            <a:ext cx="5282031" cy="5010912"/>
          </a:xfrm>
          <a:prstGeom prst="rect">
            <a:avLst/>
          </a:prstGeom>
          <a:solidFill>
            <a:srgbClr val="FFFFFF"/>
          </a:solidFill>
          <a:ln w="6350">
            <a:solidFill>
              <a:srgbClr val="D8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298448"/>
            <a:ext cx="5282031" cy="38100"/>
          </a:xfrm>
          <a:prstGeom prst="rect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6743" y="1426464"/>
            <a:ext cx="4916271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1" i="0">
                <a:solidFill>
                  <a:srgbClr val="8A7860"/>
                </a:solidFill>
                <a:latin typeface="Malgun Gothic"/>
              </a:rPr>
              <a:t>이후 이동 자산군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6743" y="1847088"/>
            <a:ext cx="4916271" cy="4445"/>
          </a:xfrm>
          <a:prstGeom prst="rect">
            <a:avLst/>
          </a:prstGeom>
          <a:solidFill>
            <a:srgbClr val="D8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9603" y="2121408"/>
            <a:ext cx="91440" cy="9144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9623" y="1920240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Microsoft — AI Monetization (Copilot)</a:t>
            </a:r>
          </a:p>
        </p:txBody>
      </p:sp>
      <p:sp>
        <p:nvSpPr>
          <p:cNvPr id="22" name="Oval 21"/>
          <p:cNvSpPr/>
          <p:nvPr/>
        </p:nvSpPr>
        <p:spPr>
          <a:xfrm>
            <a:off x="6429603" y="2615184"/>
            <a:ext cx="91440" cy="9144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9623" y="2414016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Amazon — AWS AI 클라우드 마진 확대</a:t>
            </a:r>
          </a:p>
        </p:txBody>
      </p:sp>
      <p:sp>
        <p:nvSpPr>
          <p:cNvPr id="24" name="Oval 23"/>
          <p:cNvSpPr/>
          <p:nvPr/>
        </p:nvSpPr>
        <p:spPr>
          <a:xfrm>
            <a:off x="6429603" y="3108960"/>
            <a:ext cx="91440" cy="9144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9623" y="2907792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Broadcom — 커스텀 ASIC 수주 잔고</a:t>
            </a:r>
          </a:p>
        </p:txBody>
      </p:sp>
      <p:sp>
        <p:nvSpPr>
          <p:cNvPr id="26" name="Oval 25"/>
          <p:cNvSpPr/>
          <p:nvPr/>
        </p:nvSpPr>
        <p:spPr>
          <a:xfrm>
            <a:off x="6429603" y="3602736"/>
            <a:ext cx="91440" cy="91440"/>
          </a:xfrm>
          <a:prstGeom prst="ellipse">
            <a:avLst/>
          </a:prstGeom>
          <a:solidFill>
            <a:srgbClr val="2D6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9623" y="3401568"/>
            <a:ext cx="4879695" cy="4937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현금 — 다음 사이클 재진입 실탄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48640"/>
            <a:ext cx="38100" cy="5760720"/>
          </a:xfrm>
          <a:prstGeom prst="rect">
            <a:avLst/>
          </a:prstGeom>
          <a:solidFill>
            <a:srgbClr val="1D4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377440"/>
            <a:ext cx="8656076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3600" b="1" i="0">
                <a:solidFill>
                  <a:srgbClr val="1A1814"/>
                </a:solidFill>
                <a:latin typeface="Malgun Gothic"/>
              </a:rPr>
              <a:t>질문 및 토론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456432"/>
            <a:ext cx="5951052" cy="6350"/>
          </a:xfrm>
          <a:prstGeom prst="rect">
            <a:avLst/>
          </a:prstGeom>
          <a:solidFill>
            <a:srgbClr val="8A7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621024"/>
            <a:ext cx="865607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300" b="0" i="0">
                <a:solidFill>
                  <a:srgbClr val="5A5248"/>
                </a:solidFill>
                <a:latin typeface="Malgun Gothic"/>
              </a:rPr>
              <a:t>전략 메모 · 2026년 5월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059936"/>
            <a:ext cx="8656076" cy="4023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/>
          <a:lstStyle/>
          <a:p>
            <a:pPr algn="l"/>
            <a:r>
              <a:rPr sz="1200" b="0" i="0">
                <a:solidFill>
                  <a:srgbClr val="9A9088"/>
                </a:solidFill>
                <a:latin typeface="Malgun Gothic"/>
              </a:rPr>
              <a:t>별첨: 트레일링 스탑 운영 로그 / 종목별 분기 실적 체크포인트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